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1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和大家分享一个非常重要的主题：如何将一个经典的二分类神经网络，通过关键组件的替换，改造为一个能够处理多分类任务的强大模型。我们将以XOR问题为例，深入探讨从Sigmoid激活函数与二元交叉熵损失，到Softmax激活函数与交叉熵损失的转变过程，并通过代码实现来直观感受这一改造的魅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深入改造之前，让我们先快速回顾一下基础。我们之前构建的网络是一个标准的二分类模型。它有两个输入，一个包含两个Sigmoid神经元的隐藏层，以及一个Sigmoid输出层。我们使用二元交叉熵作为损失函数。最神奇的是，这种组合让输出层的梯度计算变得异常简单，就是预测值减去真实值。这个网络非常适合解决像“是不是”这样的二分类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为什么我们需要改造这个看似完美的网络呢？因为现实世界充满了多分类问题。比如，识别手写数字是0到9中的哪一个，或者判断一张图片里是猫还是狗。我们原有的单输出网络无法应对这种情况。我们的目标是让网络输出一个有效的概率分布，所有类别概率加起来等于1。为了实现这一点，我们需要引入两个新的强大工具：Softmax激活函数和交叉熵损失函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Softmax函数。它的作用就像一个“归一化器”，能把网络最后一层输出的任意实数（我们称之为logits），转换成一组加起来等于1的概率。它通过对每个值取指数，然后除以所有指数值的总和来实现。值得注意的是，在二分类情况下，它就等价于我们熟悉的Sigmoid函数。另外，为了防止计算时出现数值溢出，一个常用的技巧是先减去输入中的最大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概率输出，我们就需要一个新的损失函数来衡量它和真实标签的差距，这就是交叉熵。它的计算需要真实标签是一种叫做“One-Hot”的编码形式，也就是只有正确类别位置是1，其他都是0。这样一来，损失函数就简化为对模型预测正确类别的概率取负对数。这个概率越高，损失越小，反之亦然。这完美地惩罚了错误的预测。同样，在二分类时，它就退化成了我们熟悉的二元交叉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来揭示这个组合最迷人的地方——梯度的魔法。当我们把Softmax和交叉熵结合在一起，然后对网络最后一层的线性输出z求导时，会得到一个极其简洁的结果：梯度就等于预测的概率向量减去真实的标签向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这个推导过程虽然涉及链式法则和微积分展开，但最终的结果却如此优雅。复杂的求和项在化简中完全抵消了。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这意味着，无论我们的分类任务有10类还是1000类，反向传播的起点计算都只是一个简单的向量减法。这种极致的计算效率，正是Softmax配合交叉熵损失，成为现代深度学习分类网络标准配置的根本原因。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右侧的图片直观展示了梯度下降的过程，我们在Loss曲面上一步步向着最低点行进，而我们刚才推导的这个简洁公式，正是为每一步的行进指明方向的指南针。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的改造主要涉及这几个方面。输出层的神经元数量从1个变成了类别数K个。激活函数从Sigmoid换成了Softmax。标签从0或1的标量变成了One-Hot向量。损失函数从二元交叉熵换成了交叉熵。最关键的是，输出层的梯度从标量减法变成了向量减法。而好消息是，隐藏层的梯度计算和参数更新的核心逻辑完全不变，只是运算形式从标量变成了向量和矩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看代码层面需要做哪些修改。首先是网络初始化。我们需要将输出层的大小从原来固定的1，改为一个可以传入的参数。在我们的例子中，就是传入2。这意味着，存储输出层权重和偏置的数组或矩阵，其维度也要相应地从1扩展到2。幸运的是，如果我们的代码设计得足够灵活，比如使用了动态容器，那么这部分改动会非常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第二步是修改前向传播。我们需要实现一个Softmax函数，记得要加入减去最大值的数值稳定性技巧，避免指数运算溢出。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，在网络的前向传播过程中，一个关键的逻辑转变是：输出层不再对每个神经元的计算结果独立应用Sigmoid，而是先把所有输出层神经元的线性得分收集起来，形成一个向量z，然后把这个向量整体送入我们新写的Softmax函数，得到最终的概率输出。这一改动确保了所有类别的概率之和为1，符合多分类的数学定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现在到了最神奇的部分——反向传播。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首先，我们需要把训练数据的标签改成One-Hot形式，比如原来的0和1变成[1,0]和[0,1]，这是为了匹配新的输出维度。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的步骤非常令人惊喜：计算输出层梯度的代码完全不需要改变！因为新的梯度公式在代码层面上和旧的公式一模一样，都是预测值减去目标值，只是现在它们都是向量了。同样的，误差反向传播到隐藏层的代码，以及权重和偏置的更新代码，也都完全不变。这充分体现了数学公式的简洁之美和我们底层代码设计的高鲁棒性——通过向量和矩阵运算抽象，系统能自动适配维度的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训练阶段，我们首先要把XOR问题的标签转换成One-Hot形式。比如，原来的标签0变成[1,0]，标签1变成[0,1]。损失计算要换成我们新定义的交叉熵函数。预测的时候，逻辑也变了，不再是看输出是否大于0.5，而是看哪个类别的概率最高，就预测为哪个类别。整个训练的循环流程和以前基本一样，网络依然能够很好地收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让我们通过一个具体的例子来走一遍完整流程。假设我们输入样本(0,1)，它的真实标签是类别1。经过前向传播，网络输出层的线性得分是[-1.0, 1.5]，经过Softmax后变成概率[0.076, 0.924]。我们计算损失约为0.079。然后进行反向传播，输出层的梯度直接就是预测概率减去真实标签，得到[0.076, -0.076]。这个误差会继续反向传播到隐藏层，最终用于更新所有的网络参数。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终的运行结果非常令人满意。我们用改造后的网络测试XOR的四个样本，它都能正确地给出预测结果，比如输入(0,1)，它会预测类别1的概率远高于类别0。同时，我们观察训练过程中的损失曲线，可以看到损失值随着训练轮次的增加而快速下降，并最终收敛，这直观地证明了我们的模型正在有效学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。今天我们学习了如何将一个二分类网络改造为多分类网络。核心就是采用了Softmax激活函数和交叉熵损失这个黄金组合。它不仅能输出有意义的概率分布，更重要的是，它保持了梯度计算的简洁性。这种设计具有极强的扩展性，可以轻松应用于更多类别的任务，并且是现代深度学习模型分类头的标准做法。希望大家能理解，这次改造的本质，就是通过精妙的数学设计，让网络输出有效的概率分布，并保持了学习过程的高效和优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我的分享到此结束，感谢大家的聆听。现在是问答环节，欢迎大家就今天的内容提问和交流。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1.sv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5.svg"/><Relationship Id="rId7" Type="http://schemas.openxmlformats.org/officeDocument/2006/relationships/image" Target="../media/image4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3.sv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26.jpe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0.sv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5.svg"/><Relationship Id="rId7" Type="http://schemas.openxmlformats.org/officeDocument/2006/relationships/image" Target="../media/image34.png"/><Relationship Id="rId6" Type="http://schemas.openxmlformats.org/officeDocument/2006/relationships/image" Target="../media/image33.jpe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6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svg"/><Relationship Id="rId8" Type="http://schemas.openxmlformats.org/officeDocument/2006/relationships/image" Target="../media/image45.png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9.jpeg"/><Relationship Id="rId11" Type="http://schemas.openxmlformats.org/officeDocument/2006/relationships/image" Target="../media/image48.svg"/><Relationship Id="rId10" Type="http://schemas.openxmlformats.org/officeDocument/2006/relationships/image" Target="../media/image47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0.jpe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svg"/><Relationship Id="rId8" Type="http://schemas.openxmlformats.org/officeDocument/2006/relationships/image" Target="../media/image57.png"/><Relationship Id="rId7" Type="http://schemas.openxmlformats.org/officeDocument/2006/relationships/image" Target="../media/image56.svg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9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Sigmoid+BCE 到 Softmax+交叉熵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921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神经网络多分类改造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19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XOR 问题的新解法与代码实现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461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6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演讲者：</a:t>
            </a:r>
            <a:r>
              <a:rPr lang="zh-CN" altLang="en-US" sz="1800" b="0" i="0" u="none" strike="noStrike">
                <a:solidFill>
                  <a:srgbClr val="FFFFFF">
                    <a:alpha val="6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沈新阳</a:t>
            </a:r>
            <a:r>
              <a:rPr lang="en-US" sz="1800" b="0" i="0" u="none" strike="noStrike">
                <a:solidFill>
                  <a:srgbClr val="FFFFFF">
                    <a:alpha val="6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|   2026/5/18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回顾原网络（Sigmoid + BCE）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0236" r="10236"/>
          <a:stretch>
            <a:fillRect/>
          </a:stretch>
        </p:blipFill>
        <p:spPr>
          <a:xfrm>
            <a:off x="762000" y="1905000"/>
            <a:ext cx="4572000" cy="4191000"/>
          </a:xfrm>
          <a:prstGeom prst="roundRect">
            <a:avLst>
              <a:gd name="adj" fmla="val 3636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715000" y="1905000"/>
            <a:ext cx="2794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2095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350000" y="20701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网络结构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905500" y="26670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输入层：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2个神经元 (对应XOR输入)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隐藏层：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2个神经元，使用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Sigmoid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激活引入非线性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输出层：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1个神经元，输出0-1概率值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763000" y="1905000"/>
            <a:ext cx="2794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53500" y="2095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9398000" y="20701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损失函数 (BCE)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953500" y="26670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公式：</a:t>
            </a:r>
            <a:r>
              <a:rPr lang="en-US" sz="1100" b="0" i="1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 = -[y·ln(a) + (1-y)·ln(1-a)]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解读：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直接衡量预测概率 a 与真实标签 y (0/1) 的差异。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715000" y="4191000"/>
            <a:ext cx="2794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5500" y="4381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350000" y="43561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梯度简化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905500" y="49530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 Sigmoid 遇上 BCE，梯度变为：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∂L/∂z = a - y</a:t>
            </a:r>
            <a:endParaRPr lang="en-US" sz="14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梯度值 = 预测值 - 真实值，极大提高计算效率。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763000" y="4191000"/>
            <a:ext cx="2794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53500" y="4381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398000" y="43561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53500" y="49530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该网络结构专为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二分类任务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设计，适合解决“是/否”判断类问题，如经典的 XOR 问题。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为何要改造？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33985" r="33985"/>
          <a:stretch>
            <a:fillRect/>
          </a:stretch>
        </p:blipFill>
        <p:spPr>
          <a:xfrm>
            <a:off x="952500" y="1968500"/>
            <a:ext cx="1397000" cy="1778000"/>
          </a:xfrm>
          <a:prstGeom prst="roundRect">
            <a:avLst>
              <a:gd name="adj" fmla="val 727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476500" y="19050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现实需求：多分类场景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真实世界的问题往往不止两个类别，需要同时判断互斥的多个类别：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图像分类：识别图片主体是猫、狗、还是汽车？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手写识别 (MNIST)：判断数字是 0-9 中的哪一个？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222500"/>
            <a:ext cx="711200" cy="711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493000" y="1905000"/>
            <a:ext cx="368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现有网络的局限性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原有的二元分类网络无法满足要求：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单输出限制：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无法同时表示对多个互斥类别的置信度。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理论不严谨：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简单增加输出并用 Sigmoid，无法保证概率之和为1。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762500"/>
            <a:ext cx="711200" cy="711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032000" y="4445000"/>
            <a:ext cx="368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改造目标：输出合理的概率分布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为了让网络输出可解释的、符合数学逻辑的预测结果：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输出一个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概率向量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，每个元素对应属于该类别的概率。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满足所有类别概率之和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严格等于 1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762500"/>
            <a:ext cx="711200" cy="711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493000" y="4445000"/>
            <a:ext cx="368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解决方案：引入新工具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针对上述目标与局限，我们引入两个核心组件：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Softmax 激活函数：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将任意实数“压缩”为符合要求的概率分布。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交叉熵损失函数：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精准衡量预测概率分布与真实标签的差异。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Softmax 激活函数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5" b="15"/>
          <a:stretch>
            <a:fillRect/>
          </a:stretch>
        </p:blipFill>
        <p:spPr>
          <a:xfrm>
            <a:off x="762000" y="1905000"/>
            <a:ext cx="4572000" cy="3048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207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将任意实数向量 (Logits) 映射为概率分布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输出值总和为 1，且每一项均在 (0, 1) 区间内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842000" y="1778000"/>
            <a:ext cx="5588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2500" y="1968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477000" y="1905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定义与计算逻辑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K 维实数向量映射为概率分布：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aᵢ = eᶻⁱ / Σ(eᶻʲ)</a:t>
            </a:r>
            <a:endParaRPr lang="en-US" sz="1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本质是计算每个类别指数值与所有类别指数值总和的比率。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842000" y="3429000"/>
            <a:ext cx="2667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2500" y="3619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413500" y="35814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三大核心性质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非负性：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所有输出值 &gt; 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归一性：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总和为 1，构成概率分布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保序性：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保持输入元素相对大小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763000" y="3429000"/>
            <a:ext cx="2667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3500" y="36195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334500" y="35814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 Sigmoid 的联系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当分类任务的类别数 K=2 时，Softmax 函数在数学上与 Sigmoid 函数完全等价。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Sigmoid 是 Softmax 的二分类特例</a:t>
            </a:r>
            <a:endParaRPr lang="en-US" sz="10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842000" y="5207000"/>
            <a:ext cx="5588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32500" y="53975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477000" y="53594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数值稳定性优化：防止指数溢出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问题：当输入值很大时，计算 eᶻⁱ 容易导致数值溢出。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解决方案：对输入向量 z 中所有元素同时减去最大值 max(z)。</a:t>
            </a:r>
            <a:endParaRPr lang="en-US" sz="11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交叉熵损失函数 (Cross-Entropy Loss)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879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定义与公式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衡量模型预测概率分布 $\hat{y}$ 与真实标签分布 $y$ 的差异。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$L = -\sum_{c=1}^{K} y_c \cdot \log(\hat{y}_c)$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90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21500" y="1879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One-Hot 编码要求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413000"/>
            <a:ext cx="241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真实标签 $y$ 必须为 One-Hot 向量：正确类别为 1，其余全为 0。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例：三分类问题中类别1为 [1, 0, 0]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 l="27389" r="27389"/>
          <a:stretch>
            <a:fillRect/>
          </a:stretch>
        </p:blipFill>
        <p:spPr>
          <a:xfrm>
            <a:off x="9017000" y="2476500"/>
            <a:ext cx="2159000" cy="1270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762000" y="4191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445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4419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直觉理解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953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由于One-Hot特性，损失仅取决于对真实类别的预测：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$L = -\log(\hat{y}_{\text{true}})$</a:t>
            </a:r>
            <a:endParaRPr lang="en-US" sz="14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$\hat{y}_{\text{true}}$ 越接近 1，损失值越小，反之则越大。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4191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4445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4419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与二元交叉熵 (BCE) 的联系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953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当分类任务是二分类 (K=2) 时，交叉熵损失函数在数学上完全等价于**二元交叉熵 (BCE)**。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因此，BCE 是交叉熵在二分类场景下的特例。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梯度推导：Softmax + 交叉熵的魔法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034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最终结论：惊人的简洁性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对线性输入 z 的梯度直接等于：</a:t>
            </a:r>
            <a:r>
              <a:rPr lang="en-US" sz="15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∂L/∂zi = ŷi - yi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这是一个向量运算，每个元素即对应类别的“预测概率 - 真实标签”。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5334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746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7084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推导路线：复杂的化简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254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链式法则：∂L/∂zj = Σ(∂L/∂ŷi · ∂ŷi/∂zj)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代入公式：将 Softmax 偏导与交叉熵偏导代入求和展开。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神奇化简：复杂的求和项完全抵消，最终只剩下简洁的向量减法。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461000"/>
            <a:ext cx="5334000" cy="1143000"/>
          </a:xfrm>
          <a:prstGeom prst="roundRect">
            <a:avLst>
              <a:gd name="adj" fmla="val 13333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52500" y="5651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为何是标准配置？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无论分类任务的类别数量是多少，反向传播的起点计算都异常高效，仅需一次简单的向量减法，极大降低了计算开销。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t="5803" b="5803"/>
          <a:stretch>
            <a:fillRect/>
          </a:stretch>
        </p:blipFill>
        <p:spPr>
          <a:xfrm>
            <a:off x="6350000" y="1651000"/>
            <a:ext cx="5080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6350000" y="4699000"/>
            <a:ext cx="508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48895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4864100"/>
            <a:ext cx="419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梯度下降的直观理解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5397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左侧推导的简洁梯度公式，是实现右侧“梯度下降”算法的关键基石。它保证了我们在神经网络每一次迭代中，都能以极小的计算成本找到Loss曲面下降最快的方向，从而高效收敛到最优解。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网络结构改动对比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21371" b="21371"/>
          <a:stretch>
            <a:fillRect/>
          </a:stretch>
        </p:blipFill>
        <p:spPr>
          <a:xfrm>
            <a:off x="762000" y="1524000"/>
            <a:ext cx="1066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3556000"/>
            <a:ext cx="5207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3746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原网络 (Sigmoid + BCE)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31800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输出层：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1个神经元 (标量输出)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激活函数：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Sigmoid (映射至 0~1)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标签形式：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标量 0 或 1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核心差异：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二元交叉熵损失(BCE)，梯度为标量运算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3556000"/>
            <a:ext cx="5207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13500" y="3746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改造后网络 (Softmax + Cross-Entropy)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13500" y="431800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输出层：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K个神经元 (类别数，向量输出)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激活函数：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Softmax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(所有输出和为1，代表概率分布)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标签形式：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One-Hot 向量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(如 [1,0], [0,1])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核心升级：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交叉熵损失(CE)，梯度为向量运算，逻辑一致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代码核心修改点（1）—— 网络初始化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558800" cy="558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651000"/>
            <a:ext cx="939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将神经网络的输出层从“1个神经元”扩展为“2个神经元”，以适配 XOR 问题中“0”和“1”两个类别的分类需求。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92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0480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原代码实现 (Original)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构造函数与成员变量定义，输出层被硬编码或默认设为1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NeuralNetwork(int iIn, int iHidden,</a:t>
            </a:r>
            <a:r>
              <a:rPr lang="en-US" sz="12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iOut = 1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 double dLR)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m_iOutputSize; // 维度固定为 1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vector&lt;vector&lt;double&gt;&gt; m_vecW2; // 尺寸 [1][HiddenSize]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2921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292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30480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修改后实现 (Modified)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初始化时传入输出大小为 2，动态分配权重与偏置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NeuralNetwork nn(2, 2,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 0.5); // 显式指定输出层大小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m_vecW2.resize(m_iOutputSize, vector&lt;double&gt;(m_iHiddenSize));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m_vecB2.resize(m_iOutputSize, 0.0); // 自动适配维度扩展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8888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562600"/>
            <a:ext cx="685800" cy="685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05000" y="5461000"/>
            <a:ext cx="927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关键总结：</a:t>
            </a:r>
            <a:r>
              <a:rPr lang="en-US" sz="1400" b="0" i="0" u="none" strike="noStrike">
                <a:solidFill>
                  <a:srgbClr val="F0FD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这一步修改的核心在于消除输出层的“硬编码”限制。只要底层代码使用了动态容器（如vector）来管理权重矩阵 W2 和偏置向量 b2，只需简单调整构造参数和初始化逻辑，即可轻松实现网络结构的灵活扩展。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代码核心修改点（2）—— 前向传播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51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625600"/>
            <a:ext cx="939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在神经网络输出层用</a:t>
            </a: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Softmax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函数替换 Sigmoid 函数，以实现多分类场景下的概率分布输出。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5207000" cy="2349500"/>
          </a:xfrm>
          <a:prstGeom prst="roundRect">
            <a:avLst>
              <a:gd name="adj" fmla="val 432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794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新增 Softmax 函数实现 (数值稳定性优化)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302000"/>
            <a:ext cx="4826000" cy="1524000"/>
          </a:xfrm>
          <a:prstGeom prst="roundRect">
            <a:avLst>
              <a:gd name="adj" fmla="val 3333"/>
            </a:avLst>
          </a:prstGeom>
          <a:solidFill>
            <a:srgbClr val="282C3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79500" y="3403600"/>
            <a:ext cx="4572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vector&lt;double&gt;</a:t>
            </a:r>
            <a:r>
              <a:rPr lang="en-US" sz="1100" b="0" i="0" u="none" strike="noStrike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Softmax</a:t>
            </a:r>
            <a:r>
              <a:rPr lang="en-US" sz="11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(const vector&lt;double&gt;&amp; vecZ) {</a:t>
            </a:r>
            <a:endParaRPr lang="en-US" sz="1100"/>
          </a:p>
          <a:p>
            <a:pPr marL="12700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double max_z = *max_element(vecZ.begin(), vecZ.end());</a:t>
            </a:r>
            <a:endParaRPr lang="en-US" sz="11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2700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... 减去最大值以防止数值溢出 ...</a:t>
            </a:r>
            <a:endParaRPr lang="en-US" sz="11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2700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result; // 输出总和为1的概率分布</a:t>
            </a:r>
            <a:endParaRPr lang="en-US" sz="11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1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2667000"/>
            <a:ext cx="5207000" cy="2349500"/>
          </a:xfrm>
          <a:prstGeom prst="roundRect">
            <a:avLst>
              <a:gd name="adj" fmla="val 432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13500" y="2794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重构 Forward 传播逻辑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3302000"/>
            <a:ext cx="4826000" cy="1524000"/>
          </a:xfrm>
          <a:prstGeom prst="roundRect">
            <a:avLst>
              <a:gd name="adj" fmla="val 3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540500" y="3403600"/>
            <a:ext cx="4572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原逻辑 (Sigmoid)：</a:t>
            </a:r>
            <a:r>
              <a:rPr lang="en-US" sz="1100" b="0" i="0" u="none" strike="noStrike">
                <a:solidFill>
                  <a:srgbClr val="4B556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o[i] = Sigmoid(...) // 逐神经元计算，相互独立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新逻辑 (Softmax)：</a:t>
            </a:r>
            <a:endParaRPr lang="en-US" sz="11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vector&lt;double&gt; z = 计算所有类别的线性得分;</a:t>
            </a:r>
            <a:endParaRPr lang="en-US" sz="1100" b="0" i="0" u="none" strike="noStrike">
              <a:solidFill>
                <a:srgbClr val="37415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12700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vector&lt;double&gt; o =</a:t>
            </a:r>
            <a:r>
              <a:rPr lang="en-US" sz="1100" b="1" i="0" u="none" strike="noStrike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Softmax(z)</a:t>
            </a:r>
            <a:r>
              <a:rPr lang="en-US" sz="11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 // 整体归一化</a:t>
            </a:r>
            <a:endParaRPr lang="en-US" sz="1100" b="0" i="0" u="none" strike="noStrike">
              <a:solidFill>
                <a:srgbClr val="37415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270500"/>
            <a:ext cx="10668000" cy="1206500"/>
          </a:xfrm>
          <a:prstGeom prst="roundRect">
            <a:avLst>
              <a:gd name="adj" fmla="val 8421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524500"/>
            <a:ext cx="635000" cy="635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905000" y="5397500"/>
            <a:ext cx="927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流程总结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CFD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前向传播不再是“逐个计算激活值”，而是先计算出所有类别的线性得分向量</a:t>
            </a:r>
            <a:r>
              <a:rPr lang="en-US" sz="1400" b="1" i="0" u="none" strike="noStrike">
                <a:solidFill>
                  <a:srgbClr val="ECFD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</a:t>
            </a:r>
            <a:r>
              <a:rPr lang="en-US" sz="1400" b="0" i="0" u="none" strike="noStrike">
                <a:solidFill>
                  <a:srgbClr val="ECFD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，再将整个向量输入 Softmax 函数，利用其内部的归一化机制，将</a:t>
            </a:r>
            <a:r>
              <a:rPr lang="en-US" sz="1400" b="1" i="0" u="none" strike="noStrike">
                <a:solidFill>
                  <a:srgbClr val="ECFD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</a:t>
            </a:r>
            <a:r>
              <a:rPr lang="en-US" sz="1400" b="0" i="0" u="none" strike="noStrike">
                <a:solidFill>
                  <a:srgbClr val="ECFD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转换为总和为 1 的概率分布向量，从而得到每个类别的预测概率。</a:t>
            </a:r>
            <a:endParaRPr lang="en-US" sz="1400" b="0" i="0" u="none" strike="noStrike">
              <a:solidFill>
                <a:srgbClr val="ECFD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代码核心修改点（3）—— 反向传播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461000" cy="1016000"/>
          </a:xfrm>
          <a:prstGeom prst="roundRect">
            <a:avLst>
              <a:gd name="adj" fmla="val 1000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00" y="18796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73200" y="1803400"/>
            <a:ext cx="457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适配新的损失函数和 One-Hot 输出形式，正确计算梯度并完成网络参数更新。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5461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" y="31496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73200" y="30226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数据准备：标签重构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将训练标签从单值 `{0}` / `{1}` 转换为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One-Hot 向量 `{1,0}` / `{0,1}`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，以匹配输出层维度。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1714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000" y="43434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06500" y="4318000"/>
            <a:ext cx="120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输出层梯度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公式 `ŷ - y` 形式不变，自动适配向量运算，无需修改代码。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2628900" y="4191000"/>
            <a:ext cx="1714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55900" y="43434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073400" y="4318000"/>
            <a:ext cx="120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反向传播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底层矩阵运算具有通用性，自动处理输出维度扩展。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508500" y="4191000"/>
            <a:ext cx="1714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35500" y="43434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953000" y="4318000"/>
            <a:ext cx="120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参数更新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权重与偏置的更新逻辑保持原样，复用成熟代码。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715000"/>
            <a:ext cx="5461000" cy="889000"/>
          </a:xfrm>
          <a:prstGeom prst="roundRect">
            <a:avLst>
              <a:gd name="adj" fmla="val 11428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5842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总结：数学之美与代码鲁棒性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0FD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得益于梯度公式的优雅形式，反向传播核心逻辑无需重构，完美适配新需求。</a:t>
            </a:r>
            <a:endParaRPr lang="en-US" sz="1200" b="0" i="0" u="none" strike="noStrike">
              <a:solidFill>
                <a:srgbClr val="F0FDF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rcRect l="11622" r="11622"/>
          <a:stretch>
            <a:fillRect/>
          </a:stretch>
        </p:blipFill>
        <p:spPr>
          <a:xfrm>
            <a:off x="6604000" y="2032000"/>
            <a:ext cx="4826000" cy="2921000"/>
          </a:xfrm>
          <a:prstGeom prst="roundRect">
            <a:avLst>
              <a:gd name="adj" fmla="val 5217"/>
            </a:avLst>
          </a:prstGeom>
          <a:noFill/>
          <a:ln w="254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2" name="AutoShape 22"/>
          <p:cNvSpPr/>
          <p:nvPr/>
        </p:nvSpPr>
        <p:spPr>
          <a:xfrm>
            <a:off x="6604000" y="5207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核心逻辑复用，代码改动极小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在神经网络框架开发中，良好的数学抽象与向量化编程，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能极大地提升系统对新功能的适应性。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训练与验证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1684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854200"/>
            <a:ext cx="762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034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数据准备：One-Hot 编码转换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将原始标签转换为概率分布形式：标签 0 → {1, 0}，标签 1 → {0, 1}，使网络输出可匹配概率空间。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984500"/>
            <a:ext cx="5207000" cy="11684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187700"/>
            <a:ext cx="762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1369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损失计算：改进的交叉熵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实现交叉熵损失函数，并在计算中引入极小值 epsilon，防止对数函数 log(0) 导致的数值计算错误。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11684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4394200"/>
            <a:ext cx="762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43434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预测与评估：最大概率准则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预测时选取输出层概率最大的类别作为结果；评估时直接比较预测类别索引与真实标签索引的一致性。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397500"/>
            <a:ext cx="5207000" cy="11684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600700"/>
            <a:ext cx="762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55499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标准训练闭环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保持与二分类网络一致的训练逻辑：前向传播获取输出 → 计算损失 → 反向传播求梯度 → 更新网络参数。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5207000" cy="4914900"/>
          </a:xfrm>
          <a:prstGeom prst="roundRect">
            <a:avLst>
              <a:gd name="adj" fmla="val 206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rcRect l="1938" r="1938"/>
          <a:stretch>
            <a:fillRect/>
          </a:stretch>
        </p:blipFill>
        <p:spPr>
          <a:xfrm>
            <a:off x="6477000" y="1905000"/>
            <a:ext cx="4699000" cy="2667000"/>
          </a:xfrm>
          <a:prstGeom prst="roundRect">
            <a:avLst>
              <a:gd name="adj" fmla="val 2857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6477000" y="48260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XOR 非线性分类示意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图中展示了XOR问题的数据分布。通过将标签转换为One-Hot形式并使用交叉熵损失，网络能更准确地学习到非线性决策边界，将两类数据完美区分开。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完整流程演示（以样本 (0,1) 为例）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222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400" y="1968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73200" y="193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1: 前向传播 (Forward Propagation)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41400" y="2540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输入与目标：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输入样本 x = [0, 1]，真实标签 y_true = [0, 1]。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隐藏层：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计算后经 Sigmoid 激活，得到 h1 ≈ 0.88, h2 ≈ 0.18。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输出层：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线性得分 [-1.0, 1.5] → 经 Softmax 转为概率 ŷ = [0.076, 0.924]。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76200" cy="2222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02400" y="1968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34200" y="193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2: 损失计算 (Loss Calculation)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02400" y="2540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交叉熵损失：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量化预测结果与真实标签的差距。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计算结果：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 = - (0 × log(0.076) + 1 × log(0.924)) ≈</a:t>
            </a:r>
            <a:r>
              <a:rPr lang="en-US" sz="13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0.079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该数值反映网络预测的“错误程度”，是优化的核心目标。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52070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4191000"/>
            <a:ext cx="76200" cy="2222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1400" y="4381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473200" y="434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3: 反向传播 (Backpropagation)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41400" y="4953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输出层梯度：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dz_out = ŷ - y_true = [0.076, -0.076]。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误差回传：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利用链式法则将误差反向传播至隐藏层，计算 Sigmoid 导数并结合输出层梯度，得到隐藏层梯度 dz_hidden。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4191000"/>
            <a:ext cx="52070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23000" y="4191000"/>
            <a:ext cx="76200" cy="22225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02400" y="4381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34200" y="434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4: 参数更新 (Parameter Update)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02400" y="4953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梯度下降：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沿损失函数负梯度方向更新参数，以降低损失值。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具体操作：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利用计算出的梯度更新输出层权重 W2、偏置 b2 以及隐藏层权重 W1、偏置 b1。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通过多次迭代，网络预测能力将持续提升。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运行结果展示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XOR 逻辑推理测试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2349500" cy="1143000"/>
          </a:xfrm>
          <a:prstGeom prst="roundRect">
            <a:avLst>
              <a:gd name="adj" fmla="val 888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28194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输入：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(0, 0)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预测: [0.95, 0.05] →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类别 0</a:t>
            </a:r>
            <a:endParaRPr lang="en-US" sz="13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92500" y="2667000"/>
            <a:ext cx="2349500" cy="1143000"/>
          </a:xfrm>
          <a:prstGeom prst="roundRect">
            <a:avLst>
              <a:gd name="adj" fmla="val 888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619500" y="28194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输入：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(0, 1)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预测: [0.03, 0.97] →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类别 1</a:t>
            </a:r>
            <a:endParaRPr lang="en-US" sz="13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3937000"/>
            <a:ext cx="2349500" cy="1143000"/>
          </a:xfrm>
          <a:prstGeom prst="roundRect">
            <a:avLst>
              <a:gd name="adj" fmla="val 888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43000" y="40894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输入：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(1, 0)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预测: [0.04, 0.96] →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类别 1</a:t>
            </a:r>
            <a:endParaRPr lang="en-US" sz="13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92500" y="3937000"/>
            <a:ext cx="2349500" cy="1143000"/>
          </a:xfrm>
          <a:prstGeom prst="roundRect">
            <a:avLst>
              <a:gd name="adj" fmla="val 888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619500" y="40894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输入：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(1, 1)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预测: [0.96, 0.04] →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类别 0</a:t>
            </a:r>
            <a:endParaRPr lang="en-US" sz="13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5207000"/>
            <a:ext cx="4826000" cy="762000"/>
          </a:xfrm>
          <a:prstGeom prst="roundRect">
            <a:avLst>
              <a:gd name="adj" fmla="val 13333"/>
            </a:avLst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143000" y="5359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结论：神经网络已成功掌握并复现 XOR 逻辑规律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77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训练损失 (Loss) 收敛趋势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rcRect t="20441" b="20441"/>
          <a:stretch>
            <a:fillRect/>
          </a:stretch>
        </p:blipFill>
        <p:spPr>
          <a:xfrm>
            <a:off x="6477000" y="2667000"/>
            <a:ext cx="4699000" cy="2159000"/>
          </a:xfrm>
          <a:prstGeom prst="roundRect">
            <a:avLst>
              <a:gd name="adj" fmla="val 470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6477000" y="4953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图表清晰展示了在训练过程中，平均交叉熵损失值随训练轮次 (Epoch) 的增加呈现出快速下降并最终趋于平缓的态势，说明模型的参数得到了有效优化，最终稳定收敛，具备了良好的泛化能力。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总结与扩展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49400" y="21336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核心收获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921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标准搭配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`Softmax` 激活函数与 `交叉熵损失` 是多分类任务的黄金组合，提供了具有概率意义的输出和简洁的梯度计算。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优雅的梯度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输出层梯度形式简化为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`ŷ - y`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，极大地降低了计算复杂度并提升了实现效率。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15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32400" y="21336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921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无缝扩展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从2分类到任意数量的类别（如MNIST的10分类），仅需调整输出层神经元数量，逻辑无需改变。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🏗️ 现代网络的基石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该输出层设计已成为 CNN、Transformer 等主流深度神经网络分类头的标准范式。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159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915400" y="21336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关键思想回顾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2921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改造的本质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通过数学变换，让网络输出满足概率公理的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有效概率分布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，从而让结果可解释。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🧠 设计的智慧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在实现多分类能力的同时，保持了反向传播起始点梯度“预测减标签”的简洁优雅。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1066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2800" y="3746500"/>
            <a:ext cx="1016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4191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欢迎提问与交流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46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spc="3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LISTENING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5037</Words>
  <Application>WPS 演示</Application>
  <PresentationFormat/>
  <Paragraphs>280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Arial</vt:lpstr>
      <vt:lpstr>Noto Sans SC</vt:lpstr>
      <vt:lpstr>Source Code Pro</vt:lpstr>
      <vt:lpstr>Segoe Print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-.-</cp:lastModifiedBy>
  <cp:revision>1</cp:revision>
  <dcterms:created xsi:type="dcterms:W3CDTF">2026-05-18T05:59:36Z</dcterms:created>
  <dcterms:modified xsi:type="dcterms:W3CDTF">2026-05-18T05:59:36Z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AB5CBFDCA6D446F29B40AF020F015D71_12</vt:lpwstr>
  </property>
  <property fmtid="{D5CDD505-2E9C-101B-9397-08002B2CF9AE}" pid="3" name="KSOProductBuildVer">
    <vt:lpwstr>2052-12.1.0.26375</vt:lpwstr>
  </property>
</Properties>
</file>