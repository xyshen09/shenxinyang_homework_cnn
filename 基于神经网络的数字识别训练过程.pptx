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汇报关于“基于神经网络的数字识别训练过程”的内容。本次汇报将重点介绍如何使用C/C++语言实现对图像中手写数字1到9的识别，并深入探讨神经网络的核心组件及其训练思路。希望通过这次分享，能让大家对深度学习在计算机视觉领域的应用有更清晰的认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四个部分。首先，我会明确本次汇报的目标。接着，我们将了解输入数据的准备工作以及所使用的卷积神经网络的整体结构。然后，我会详细拆解CNN的各个核心组件，包括卷积层、池化层等。最后，我们将探讨训练的核心逻辑，并展示训练过程和最终的预测结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的主要目标有三个。首先，我会带大家完整地走一遍神经网络的训练流程。其次，我会详细拆解卷积、池化等各个模块，并解释它们是如何协同工作的。最后，也是最重要的一点，是让大家真正理解网络是如何学会对图片中的数字进行分类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训练开始前，数据准备是至关重要的第一步。我们使用的是经典的手写数字数据集MNIST。为了让模型更好地学习，我们需要对数据进行预处理。主要包括两个步骤：首先是像素归一化，将像素值缩放到0到1的范围，这能显著加快训练速度和提高数值稳定性。其次是将数据划分为训练集、验证集和测试集，它们分别用于模型的参数学习、训练中的超参数调优以及最终的性能评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所使用的卷积神经网络的整体结构。它像一条流水线，数据从输入层进入，依次经过卷积层、池化层、全连接层，最后在输出层得到结果。每一层都有其特定的功能：输入层负责接收图像，卷积层和池化层负责自动提取图像特征，全连接层负责整合这些特征，最终输出层给出每个数字的预测概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首先来看卷积层。它的主要作用是提取特征。想象一下，我们有很多个不同的“小模板”，也就是卷积核。每个模板负责寻找一种特定的图案，比如横线、竖线或者某个角度的边缘。这些模板在图像上滑动，计算匹配度，最终生成一张特征图，告诉我们原图中哪里有这些特征。这就是CNN能够理解图像内容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卷积层提取特征后，我们会使用池化层。池化层的作用很简单，就是“压缩”特征图。它通过一个窗口在特征图上滑动，比如取窗口内的最大值作为代表。这样做不仅可以大大减少后续计算的复杂度，还能让模型更关注主要特征，提高泛化能力，减少过拟合的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激活函数是神经网络的“开关”，它为网络引入了非线性。为什么需要非线性呢？因为现实世界中的问题大多是非线性的。如果没有它，再深的网络也只是一个复杂的线性模型。我们最常用的激活函数是ReLU，它的计算非常简单，效果却很好。当然还有Sigmoid和Tanh等其他函数，适用于不同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了预测结果，我们如何判断它的好坏呢？这就需要损失函数。它就像一把尺子，用来度量预测值和真实值之间的差距。对于分类问题，我们常用交叉熵损失。计算出损失后，优化器就会登场，它会根据损失的“指引”，通过反向传播算法，不断调整网络中的参数，让模型变得越来越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训练过程的核心就是不断重复前向传播和反向传播。简单来说，第一步，我们把数据喂给网络，得到预测结果，这叫前向传播。第二步，计算预测结果和真实结果的差距，也就是损失。第三步，从后往前，计算每个参数对损失的影响，这叫反向传播。最后，根据这些影响来调整参数。这个过程不断重复，模型就会变得越来越聪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训练过程中，我们需要通过可视化的方式来监控模型的表现。最常用的就是观察损失曲线和准确率曲线。我们希望看到损失不断下降，准确率不断上升。同时，我们会特别关注验证集的曲线，如果发现验证集的损失不再下降甚至上升，就说明模型可能过拟合了，需要及时调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训练完成后，我们就可以用这个模型来进行预测了。过程很简单：输入一张新的数字图片，网络经过一次前向传播，会输出每个数字的可能性。比如这张图，网络认为它是数字7的概率高达90%，是其他数字的概率都很低，所以我们就判断这张图写的是7。这就是典型的分类任务流程：输入 -&gt; 计算 -&gt; 概率分布 -&gt; 选取最大值作为结果。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总结一下。首先，卷积神经网络最大的优势就是能够自动提取图像特征，解放了人力。其次，我们了解了卷积、池化等核心组件是如何协同工作，共同完成识别任务的。最后，我们也提到，像C/C++这样的语言可以高效地实现这一过程。希望通过今天的分享，大家对神经网络的训练有了更深入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我的汇报到此结束，感谢大家的聆听。现在是问答环节，欢迎大家提问交流。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0" Type="http://schemas.openxmlformats.org/officeDocument/2006/relationships/notesSlide" Target="../notesSlides/notesSlide6.xml"/><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8.svg"/><Relationship Id="rId7"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0" Type="http://schemas.openxmlformats.org/officeDocument/2006/relationships/notesSlide" Target="../notesSlides/notesSlide7.xml"/><Relationship Id="rId1"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38.svg"/><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8.svg"/><Relationship Id="rId7"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image" Target="../media/image40.svg"/><Relationship Id="rId10" Type="http://schemas.openxmlformats.org/officeDocument/2006/relationships/notesSlide" Target="../notesSlides/notesSlide10.xml"/><Relationship Id="rId1" Type="http://schemas.openxmlformats.org/officeDocument/2006/relationships/image" Target="../media/image39.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32.svg"/><Relationship Id="rId1" Type="http://schemas.openxmlformats.org/officeDocument/2006/relationships/image" Target="../media/image31.png"/></Relationships>
</file>

<file path=ppt/slides/_rels/slide12.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8.svg"/><Relationship Id="rId7" Type="http://schemas.openxmlformats.org/officeDocument/2006/relationships/image" Target="../media/image47.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12.svg"/><Relationship Id="rId16" Type="http://schemas.openxmlformats.org/officeDocument/2006/relationships/notesSlide" Target="../notesSlides/notesSlide12.xml"/><Relationship Id="rId15" Type="http://schemas.openxmlformats.org/officeDocument/2006/relationships/slideLayout" Target="../slideLayouts/slideLayout12.xml"/><Relationship Id="rId14" Type="http://schemas.openxmlformats.org/officeDocument/2006/relationships/image" Target="../media/image54.svg"/><Relationship Id="rId13" Type="http://schemas.openxmlformats.org/officeDocument/2006/relationships/image" Target="../media/image53.png"/><Relationship Id="rId12" Type="http://schemas.openxmlformats.org/officeDocument/2006/relationships/image" Target="../media/image52.svg"/><Relationship Id="rId11" Type="http://schemas.openxmlformats.org/officeDocument/2006/relationships/image" Target="../media/image51.png"/><Relationship Id="rId10" Type="http://schemas.openxmlformats.org/officeDocument/2006/relationships/image" Target="../media/image50.sv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2.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 Id="rId3" Type="http://schemas.openxmlformats.org/officeDocument/2006/relationships/image" Target="../media/image55.png"/><Relationship Id="rId2" Type="http://schemas.openxmlformats.org/officeDocument/2006/relationships/image" Target="../media/image30.svg"/><Relationship Id="rId1"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032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基于神经网络的数字识别训练过程</a:t>
            </a:r>
            <a:endParaRPr lang="en-US" sz="1100"/>
          </a:p>
        </p:txBody>
      </p:sp>
      <p:sp>
        <p:nvSpPr>
          <p:cNvPr id="3" name="AutoShape 3"/>
          <p:cNvSpPr/>
          <p:nvPr/>
        </p:nvSpPr>
        <p:spPr>
          <a:xfrm>
            <a:off x="5588000" y="3429000"/>
            <a:ext cx="1016000" cy="762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4064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 C/C++ 实现对图像中数字 1‑9 的识别</a:t>
            </a:r>
            <a:endParaRPr lang="en-US" sz="1100"/>
          </a:p>
        </p:txBody>
      </p:sp>
      <p:sp>
        <p:nvSpPr>
          <p:cNvPr id="5" name="AutoShape 5"/>
          <p:cNvSpPr/>
          <p:nvPr/>
        </p:nvSpPr>
        <p:spPr>
          <a:xfrm>
            <a:off x="0" y="5461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6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rPr>
              <a:t>沈新阳</a:t>
            </a:r>
            <a:r>
              <a:rPr lang="en-US" sz="16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rPr>
              <a:t>| 日期：2026/5/9</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3" name="AutoShape 3"/>
          <p:cNvSpPr/>
          <p:nvPr/>
        </p:nvSpPr>
        <p:spPr>
          <a:xfrm>
            <a:off x="762000" y="1905000"/>
            <a:ext cx="2590800" cy="4191000"/>
          </a:xfrm>
          <a:prstGeom prst="roundRect">
            <a:avLst>
              <a:gd name="adj" fmla="val 588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762000" y="2286000"/>
            <a:ext cx="25908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5" name="AutoShape 5"/>
          <p:cNvSpPr/>
          <p:nvPr/>
        </p:nvSpPr>
        <p:spPr>
          <a:xfrm>
            <a:off x="762000" y="3429000"/>
            <a:ext cx="2590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汇报目标</a:t>
            </a:r>
            <a:endParaRPr lang="en-US" sz="1100"/>
          </a:p>
        </p:txBody>
      </p:sp>
      <p:sp>
        <p:nvSpPr>
          <p:cNvPr id="6" name="AutoShape 6"/>
          <p:cNvSpPr/>
          <p:nvPr/>
        </p:nvSpPr>
        <p:spPr>
          <a:xfrm>
            <a:off x="1676400" y="4191000"/>
            <a:ext cx="762000" cy="381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14400" y="4699000"/>
            <a:ext cx="2286000" cy="1270000"/>
          </a:xfrm>
          <a:prstGeom prst="rect">
            <a:avLst/>
          </a:prstGeom>
          <a:noFill/>
          <a:ln w="12700" cap="flat" cmpd="sng">
            <a:noFill/>
            <a:prstDash val="solid"/>
            <a:round/>
          </a:ln>
        </p:spPr>
        <p:txBody>
          <a:bodyPr vert="horz" wrap="square" lIns="0" tIns="0" rIns="0" bIns="0" rtlCol="0" anchor="ctr" anchorCtr="0"/>
          <a:lstStyle/>
          <a:p>
            <a:pPr indent="0" algn="ctr">
              <a:lnSpc>
                <a:spcPct val="133000"/>
              </a:lnSpc>
              <a:defRPr/>
            </a:pP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介绍神经网络的训练流程</a:t>
            </a:r>
            <a:b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展示核心模块如何协同工作</a:t>
            </a:r>
            <a:b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理解网络如何对图片中数字分类</a:t>
            </a:r>
            <a:endParaRPr lang="en-US" sz="1100"/>
          </a:p>
        </p:txBody>
      </p:sp>
      <p:sp>
        <p:nvSpPr>
          <p:cNvPr id="8" name="AutoShape 8"/>
          <p:cNvSpPr/>
          <p:nvPr/>
        </p:nvSpPr>
        <p:spPr>
          <a:xfrm>
            <a:off x="3505200" y="1905000"/>
            <a:ext cx="2590800" cy="4191000"/>
          </a:xfrm>
          <a:prstGeom prst="roundRect">
            <a:avLst>
              <a:gd name="adj" fmla="val 588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3505200" y="2286000"/>
            <a:ext cx="25908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p:nvPr/>
        </p:nvSpPr>
        <p:spPr>
          <a:xfrm>
            <a:off x="3505200" y="3429000"/>
            <a:ext cx="2590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数据与网络结构</a:t>
            </a:r>
            <a:endParaRPr lang="en-US" sz="1100"/>
          </a:p>
        </p:txBody>
      </p:sp>
      <p:sp>
        <p:nvSpPr>
          <p:cNvPr id="11" name="AutoShape 11"/>
          <p:cNvSpPr/>
          <p:nvPr/>
        </p:nvSpPr>
        <p:spPr>
          <a:xfrm>
            <a:off x="4419600" y="4191000"/>
            <a:ext cx="762000" cy="381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657600" y="4699000"/>
            <a:ext cx="2286000" cy="1270000"/>
          </a:xfrm>
          <a:prstGeom prst="rect">
            <a:avLst/>
          </a:prstGeom>
          <a:noFill/>
          <a:ln w="12700" cap="flat" cmpd="sng">
            <a:noFill/>
            <a:prstDash val="solid"/>
            <a:round/>
          </a:ln>
        </p:spPr>
        <p:txBody>
          <a:bodyPr vert="horz" wrap="square" lIns="0" tIns="0" rIns="0" bIns="0" rtlCol="0" anchor="ctr" anchorCtr="0"/>
          <a:lstStyle/>
          <a:p>
            <a:pPr indent="0" algn="ctr">
              <a:lnSpc>
                <a:spcPct val="133000"/>
              </a:lnSpc>
              <a:defRPr/>
            </a:pP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输入数据准备与预处理</a:t>
            </a:r>
            <a:b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卷积神经网络（CNN）结构概览</a:t>
            </a:r>
            <a:endParaRPr lang="en-US" sz="1100"/>
          </a:p>
        </p:txBody>
      </p:sp>
      <p:sp>
        <p:nvSpPr>
          <p:cNvPr id="13" name="AutoShape 13"/>
          <p:cNvSpPr/>
          <p:nvPr/>
        </p:nvSpPr>
        <p:spPr>
          <a:xfrm>
            <a:off x="6248400" y="1905000"/>
            <a:ext cx="2590800" cy="4191000"/>
          </a:xfrm>
          <a:prstGeom prst="roundRect">
            <a:avLst>
              <a:gd name="adj" fmla="val 588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6248400" y="2286000"/>
            <a:ext cx="25908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5" name="AutoShape 15"/>
          <p:cNvSpPr/>
          <p:nvPr/>
        </p:nvSpPr>
        <p:spPr>
          <a:xfrm>
            <a:off x="6248400" y="3429000"/>
            <a:ext cx="2590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核心组件详解</a:t>
            </a:r>
            <a:endParaRPr lang="en-US" sz="1100"/>
          </a:p>
        </p:txBody>
      </p:sp>
      <p:sp>
        <p:nvSpPr>
          <p:cNvPr id="16" name="AutoShape 16"/>
          <p:cNvSpPr/>
          <p:nvPr/>
        </p:nvSpPr>
        <p:spPr>
          <a:xfrm>
            <a:off x="7162800" y="4191000"/>
            <a:ext cx="762000" cy="381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400800" y="4699000"/>
            <a:ext cx="2286000" cy="1270000"/>
          </a:xfrm>
          <a:prstGeom prst="rect">
            <a:avLst/>
          </a:prstGeom>
          <a:noFill/>
          <a:ln w="12700" cap="flat" cmpd="sng">
            <a:noFill/>
            <a:prstDash val="solid"/>
            <a:round/>
          </a:ln>
        </p:spPr>
        <p:txBody>
          <a:bodyPr vert="horz" wrap="square" lIns="0" tIns="0" rIns="0" bIns="0" rtlCol="0" anchor="ctr" anchorCtr="0"/>
          <a:lstStyle/>
          <a:p>
            <a:pPr indent="0" algn="ctr">
              <a:lnSpc>
                <a:spcPct val="133000"/>
              </a:lnSpc>
              <a:defRPr/>
            </a:pP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卷积层、池化层、激活函数</a:t>
            </a:r>
            <a:b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损失函数与优化</a:t>
            </a:r>
            <a:endParaRPr lang="en-US" sz="1100"/>
          </a:p>
        </p:txBody>
      </p:sp>
      <p:sp>
        <p:nvSpPr>
          <p:cNvPr id="18" name="AutoShape 18"/>
          <p:cNvSpPr/>
          <p:nvPr/>
        </p:nvSpPr>
        <p:spPr>
          <a:xfrm>
            <a:off x="8991600" y="1905000"/>
            <a:ext cx="2590800" cy="4191000"/>
          </a:xfrm>
          <a:prstGeom prst="roundRect">
            <a:avLst>
              <a:gd name="adj" fmla="val 588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9" name="AutoShape 19"/>
          <p:cNvSpPr/>
          <p:nvPr/>
        </p:nvSpPr>
        <p:spPr>
          <a:xfrm>
            <a:off x="8991600" y="2286000"/>
            <a:ext cx="25908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0" name="AutoShape 20"/>
          <p:cNvSpPr/>
          <p:nvPr/>
        </p:nvSpPr>
        <p:spPr>
          <a:xfrm>
            <a:off x="8991600" y="3429000"/>
            <a:ext cx="2590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训练与结果</a:t>
            </a:r>
            <a:endParaRPr lang="en-US" sz="1100"/>
          </a:p>
        </p:txBody>
      </p:sp>
      <p:sp>
        <p:nvSpPr>
          <p:cNvPr id="21" name="AutoShape 21"/>
          <p:cNvSpPr/>
          <p:nvPr/>
        </p:nvSpPr>
        <p:spPr>
          <a:xfrm>
            <a:off x="9906000" y="4191000"/>
            <a:ext cx="762000" cy="381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9144000" y="4699000"/>
            <a:ext cx="2286000" cy="1270000"/>
          </a:xfrm>
          <a:prstGeom prst="rect">
            <a:avLst/>
          </a:prstGeom>
          <a:noFill/>
          <a:ln w="12700" cap="flat" cmpd="sng">
            <a:noFill/>
            <a:prstDash val="solid"/>
            <a:round/>
          </a:ln>
        </p:spPr>
        <p:txBody>
          <a:bodyPr vert="horz" wrap="square" lIns="0" tIns="0" rIns="0" bIns="0" rtlCol="0" anchor="ctr" anchorCtr="0"/>
          <a:lstStyle/>
          <a:p>
            <a:pPr indent="0" algn="ctr">
              <a:lnSpc>
                <a:spcPct val="133000"/>
              </a:lnSpc>
              <a:defRPr/>
            </a:pP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前向传播与反向传播</a:t>
            </a:r>
            <a:b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06266"/>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训练过程观察与最终预测</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本次汇报的目标</a:t>
            </a:r>
            <a:endParaRPr lang="en-US" sz="1100"/>
          </a:p>
        </p:txBody>
      </p:sp>
      <p:sp>
        <p:nvSpPr>
          <p:cNvPr id="3" name="AutoShape 3"/>
          <p:cNvSpPr/>
          <p:nvPr/>
        </p:nvSpPr>
        <p:spPr>
          <a:xfrm>
            <a:off x="762000" y="1778000"/>
            <a:ext cx="3302000" cy="4318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44700" y="2159000"/>
            <a:ext cx="736600" cy="736600"/>
          </a:xfrm>
          <a:prstGeom prst="rect">
            <a:avLst/>
          </a:prstGeom>
        </p:spPr>
      </p:pic>
      <p:sp>
        <p:nvSpPr>
          <p:cNvPr id="5" name="AutoShape 5"/>
          <p:cNvSpPr/>
          <p:nvPr/>
        </p:nvSpPr>
        <p:spPr>
          <a:xfrm>
            <a:off x="889000" y="3175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 介绍训练流程</a:t>
            </a:r>
            <a:endParaRPr lang="en-US" sz="1100"/>
          </a:p>
        </p:txBody>
      </p:sp>
      <p:sp>
        <p:nvSpPr>
          <p:cNvPr id="6" name="AutoShape 6"/>
          <p:cNvSpPr/>
          <p:nvPr/>
        </p:nvSpPr>
        <p:spPr>
          <a:xfrm>
            <a:off x="2095500" y="3937000"/>
            <a:ext cx="635000" cy="508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4445000"/>
            <a:ext cx="2794000" cy="1524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3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详细阐述神经网络从数据输入到模型输出的完整训练流程，涵盖数据清洗与预处理、网络架构构建、多轮迭代训练以及最终模型评估的关键环节，建立全流程认知。</a:t>
            </a:r>
            <a:endParaRPr lang="en-US" sz="1100"/>
          </a:p>
        </p:txBody>
      </p:sp>
      <p:sp>
        <p:nvSpPr>
          <p:cNvPr id="8" name="AutoShape 8"/>
          <p:cNvSpPr/>
          <p:nvPr/>
        </p:nvSpPr>
        <p:spPr>
          <a:xfrm>
            <a:off x="4445000" y="1778000"/>
            <a:ext cx="3302000" cy="4318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27700" y="2159000"/>
            <a:ext cx="736600" cy="736600"/>
          </a:xfrm>
          <a:prstGeom prst="rect">
            <a:avLst/>
          </a:prstGeom>
        </p:spPr>
      </p:pic>
      <p:sp>
        <p:nvSpPr>
          <p:cNvPr id="10" name="AutoShape 10"/>
          <p:cNvSpPr/>
          <p:nvPr/>
        </p:nvSpPr>
        <p:spPr>
          <a:xfrm>
            <a:off x="4572000" y="3175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 展示模块协同</a:t>
            </a:r>
            <a:endParaRPr lang="en-US" sz="1100"/>
          </a:p>
        </p:txBody>
      </p:sp>
      <p:sp>
        <p:nvSpPr>
          <p:cNvPr id="11" name="AutoShape 11"/>
          <p:cNvSpPr/>
          <p:nvPr/>
        </p:nvSpPr>
        <p:spPr>
          <a:xfrm>
            <a:off x="5778500" y="3937000"/>
            <a:ext cx="635000" cy="508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99000" y="4445000"/>
            <a:ext cx="2794000" cy="1524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3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深度解析卷积层、池化层、各类激活函数及损失函数等核心组件在网络中的具体功能，并说明它们如何分工协作、层层递进，共同完成复杂的图像特征提取与识别任务。</a:t>
            </a:r>
            <a:endParaRPr lang="en-US" sz="1100"/>
          </a:p>
        </p:txBody>
      </p:sp>
      <p:sp>
        <p:nvSpPr>
          <p:cNvPr id="13" name="AutoShape 13"/>
          <p:cNvSpPr/>
          <p:nvPr/>
        </p:nvSpPr>
        <p:spPr>
          <a:xfrm>
            <a:off x="8128000" y="1778000"/>
            <a:ext cx="3302000" cy="4318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10700" y="2159000"/>
            <a:ext cx="736600" cy="736600"/>
          </a:xfrm>
          <a:prstGeom prst="rect">
            <a:avLst/>
          </a:prstGeom>
        </p:spPr>
      </p:pic>
      <p:sp>
        <p:nvSpPr>
          <p:cNvPr id="15" name="AutoShape 15"/>
          <p:cNvSpPr/>
          <p:nvPr/>
        </p:nvSpPr>
        <p:spPr>
          <a:xfrm>
            <a:off x="8255000" y="3175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 理解数字分类</a:t>
            </a:r>
            <a:endParaRPr lang="en-US" sz="1100"/>
          </a:p>
        </p:txBody>
      </p:sp>
      <p:sp>
        <p:nvSpPr>
          <p:cNvPr id="16" name="AutoShape 16"/>
          <p:cNvSpPr/>
          <p:nvPr/>
        </p:nvSpPr>
        <p:spPr>
          <a:xfrm>
            <a:off x="9461500" y="3937000"/>
            <a:ext cx="635000" cy="508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382000" y="4445000"/>
            <a:ext cx="2794000" cy="1524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3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以手写数字识别为具体场景，结合案例直观展示神经网络如何自动学习数字的特征与规律，并最终实现对图像中数字的准确分类，帮助大家理解背后的逻辑原理。</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输入图像与数据预处理</a:t>
            </a:r>
            <a:endParaRPr lang="en-US" sz="1100"/>
          </a:p>
        </p:txBody>
      </p:sp>
      <p:sp>
        <p:nvSpPr>
          <p:cNvPr id="3" name="AutoShape 3"/>
          <p:cNvSpPr/>
          <p:nvPr/>
        </p:nvSpPr>
        <p:spPr>
          <a:xfrm>
            <a:off x="762000" y="1651000"/>
            <a:ext cx="5334000" cy="4699000"/>
          </a:xfrm>
          <a:prstGeom prst="roundRect">
            <a:avLst>
              <a:gd name="adj" fmla="val 324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2032000"/>
            <a:ext cx="304800" cy="304800"/>
          </a:xfrm>
          <a:prstGeom prst="rect">
            <a:avLst/>
          </a:prstGeom>
        </p:spPr>
      </p:pic>
      <p:sp>
        <p:nvSpPr>
          <p:cNvPr id="5" name="AutoShape 5"/>
          <p:cNvSpPr/>
          <p:nvPr/>
        </p:nvSpPr>
        <p:spPr>
          <a:xfrm>
            <a:off x="1524000" y="2006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 (Dataset)</a:t>
            </a:r>
            <a:endParaRPr lang="en-US" sz="1100"/>
          </a:p>
        </p:txBody>
      </p:sp>
      <p:sp>
        <p:nvSpPr>
          <p:cNvPr id="6" name="AutoShape 6"/>
          <p:cNvSpPr/>
          <p:nvPr/>
        </p:nvSpPr>
        <p:spPr>
          <a:xfrm>
            <a:off x="1066800" y="2667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使用经典的</a:t>
            </a: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MNIST</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手写数字图像库，包含大量由不同书写者创作的数字 0-9 灰度图像，是深度学习领域最常用的基准测试集之一。</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3683000"/>
            <a:ext cx="304800" cy="304800"/>
          </a:xfrm>
          <a:prstGeom prst="rect">
            <a:avLst/>
          </a:prstGeom>
        </p:spPr>
      </p:pic>
      <p:sp>
        <p:nvSpPr>
          <p:cNvPr id="8" name="AutoShape 8"/>
          <p:cNvSpPr/>
          <p:nvPr/>
        </p:nvSpPr>
        <p:spPr>
          <a:xfrm>
            <a:off x="1524000" y="3657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关键预处理步骤</a:t>
            </a:r>
            <a:endParaRPr lang="en-US" sz="1100"/>
          </a:p>
        </p:txBody>
      </p:sp>
      <p:sp>
        <p:nvSpPr>
          <p:cNvPr id="9" name="AutoShape 9"/>
          <p:cNvSpPr/>
          <p:nvPr/>
        </p:nvSpPr>
        <p:spPr>
          <a:xfrm>
            <a:off x="1066800" y="4445000"/>
            <a:ext cx="2349500" cy="1524000"/>
          </a:xfrm>
          <a:prstGeom prst="roundRect">
            <a:avLst>
              <a:gd name="adj" fmla="val 6666"/>
            </a:avLst>
          </a:prstGeom>
          <a:solidFill>
            <a:srgbClr val="ECF9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193800" y="4635500"/>
            <a:ext cx="20955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像素归一化</a:t>
            </a:r>
            <a:endParaRPr lang="en-US" sz="1100"/>
          </a:p>
          <a:p>
            <a:pPr indent="0" algn="l">
              <a:lnSpc>
                <a:spcPct val="108000"/>
              </a:lnSpc>
              <a:spcBef>
                <a:spcPts val="800"/>
              </a:spcBef>
            </a:pPr>
            <a:r>
              <a:rPr lang="en-US" sz="12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将像素值从 0-255 映射到 0-1 区间，消除量纲差异，显著提升模型收敛速度与数值稳定性。</a:t>
            </a:r>
            <a:endParaRPr lang="en-US" sz="12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3619500" y="4445000"/>
            <a:ext cx="2349500" cy="1524000"/>
          </a:xfrm>
          <a:prstGeom prst="roundRect">
            <a:avLst>
              <a:gd name="adj" fmla="val 6666"/>
            </a:avLst>
          </a:prstGeom>
          <a:solidFill>
            <a:srgbClr val="F0F4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746500" y="4635500"/>
            <a:ext cx="20955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980B9"/>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数据集划分</a:t>
            </a:r>
            <a:endParaRPr lang="en-US" sz="1100"/>
          </a:p>
          <a:p>
            <a:pPr indent="0" algn="l">
              <a:lnSpc>
                <a:spcPct val="108000"/>
              </a:lnSpc>
              <a:spcBef>
                <a:spcPts val="800"/>
              </a:spcBef>
            </a:pPr>
            <a:r>
              <a:rPr lang="en-US" sz="12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分为三类：</a:t>
            </a:r>
            <a:r>
              <a:rPr lang="en-US" sz="1200" b="1"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训练集</a:t>
            </a:r>
            <a:r>
              <a:rPr lang="en-US" sz="12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(参数学习)、</a:t>
            </a:r>
            <a:r>
              <a:rPr lang="en-US" sz="1200" b="1"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验证集</a:t>
            </a:r>
            <a:r>
              <a:rPr lang="en-US" sz="12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(超参调优)、</a:t>
            </a:r>
            <a:r>
              <a:rPr lang="en-US" sz="1200" b="1"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测试集</a:t>
            </a:r>
            <a:r>
              <a:rPr lang="en-US" sz="12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(最终性能评估)。</a:t>
            </a:r>
            <a:endParaRPr lang="en-US" sz="12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350000" y="1651000"/>
            <a:ext cx="5080000" cy="4699000"/>
          </a:xfrm>
          <a:prstGeom prst="roundRect">
            <a:avLst>
              <a:gd name="adj" fmla="val 3243"/>
            </a:avLst>
          </a:prstGeom>
          <a:solidFill>
            <a:srgbClr val="333333">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47000" y="2413000"/>
            <a:ext cx="2286000" cy="1651000"/>
          </a:xfrm>
          <a:prstGeom prst="rect">
            <a:avLst/>
          </a:prstGeom>
        </p:spPr>
      </p:pic>
      <p:sp>
        <p:nvSpPr>
          <p:cNvPr id="15" name="AutoShape 15"/>
          <p:cNvSpPr/>
          <p:nvPr/>
        </p:nvSpPr>
        <p:spPr>
          <a:xfrm>
            <a:off x="6604000" y="4445000"/>
            <a:ext cx="457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PIPELINE</a:t>
            </a:r>
            <a:endParaRPr lang="en-US" sz="1100"/>
          </a:p>
        </p:txBody>
      </p:sp>
      <p:sp>
        <p:nvSpPr>
          <p:cNvPr id="16" name="AutoShape 16"/>
          <p:cNvSpPr/>
          <p:nvPr/>
        </p:nvSpPr>
        <p:spPr>
          <a:xfrm>
            <a:off x="6731000" y="5207000"/>
            <a:ext cx="4318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高质量的数据输入是构建高性能模型的基石。</a:t>
            </a:r>
            <a:br>
              <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标准化的预处理流程可有效降低训练难度。</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卷积神经网络 (CNN) 结构示意</a:t>
            </a:r>
            <a:endParaRPr lang="en-US" sz="1100"/>
          </a:p>
        </p:txBody>
      </p:sp>
      <p:sp>
        <p:nvSpPr>
          <p:cNvPr id="3" name="AutoShape 3"/>
          <p:cNvSpPr/>
          <p:nvPr/>
        </p:nvSpPr>
        <p:spPr>
          <a:xfrm>
            <a:off x="762000" y="1905000"/>
            <a:ext cx="2032000" cy="4064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762000" y="1905000"/>
            <a:ext cx="2032000" cy="10160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89000" y="2032000"/>
            <a:ext cx="177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a:p>
            <a:pPr indent="0" algn="ctr">
              <a:lnSpc>
                <a:spcPct val="125000"/>
              </a:lnSpc>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输入层 (Input)</a:t>
            </a:r>
            <a:endPar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889000" y="3175000"/>
            <a:ext cx="1778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接收图像数据</a:t>
            </a:r>
            <a:endParaRPr lang="en-US" sz="1100"/>
          </a:p>
          <a:p>
            <a:pPr indent="0" algn="l">
              <a:lnSpc>
                <a:spcPct val="117000"/>
              </a:lnSpc>
              <a:spcBef>
                <a:spcPts val="1000"/>
              </a:spcBef>
            </a:pPr>
            <a:r>
              <a:rPr lang="en-US" sz="1200" b="0" i="0" u="none" strike="noStrike">
                <a:solidFill>
                  <a:srgbClr val="606060"/>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直接接收原始图像张量作为网络输入，不进行任何特征提取。</a:t>
            </a:r>
            <a:endParaRPr lang="en-US" sz="1200" b="0" i="0" u="none" strike="noStrike">
              <a:solidFill>
                <a:srgbClr val="60606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500"/>
              </a:spcBef>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例：一张 28×28 像素的手写数字灰度图</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2984500" y="1905000"/>
            <a:ext cx="2032000" cy="4064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2984500" y="1905000"/>
            <a:ext cx="2032000" cy="10160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111500" y="2032000"/>
            <a:ext cx="177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a:p>
            <a:pPr indent="0" algn="ctr">
              <a:lnSpc>
                <a:spcPct val="125000"/>
              </a:lnSpc>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卷积层 (Conv)</a:t>
            </a:r>
            <a:endPar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3111500" y="3175000"/>
            <a:ext cx="1778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提取局部特征</a:t>
            </a:r>
            <a:endParaRPr lang="en-US" sz="1100"/>
          </a:p>
          <a:p>
            <a:pPr indent="0" algn="l">
              <a:lnSpc>
                <a:spcPct val="117000"/>
              </a:lnSpc>
              <a:spcBef>
                <a:spcPts val="1000"/>
              </a:spcBef>
            </a:pPr>
            <a:r>
              <a:rPr lang="en-US" sz="1200" b="0" i="0" u="none" strike="noStrike">
                <a:solidFill>
                  <a:srgbClr val="60606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利用可学习的卷积核对图像进行卷积运算，自动捕捉边缘、纹理等局部空间特征。</a:t>
            </a:r>
            <a:endParaRPr lang="en-US" sz="1200" b="0" i="0" u="none" strike="noStrike">
              <a:solidFill>
                <a:srgbClr val="60606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500"/>
              </a:spcBef>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生成：多通道特征图 (Feature Map)</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207000" y="1905000"/>
            <a:ext cx="2032000" cy="4064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5207000" y="1905000"/>
            <a:ext cx="2032000" cy="10160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334000" y="2032000"/>
            <a:ext cx="177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a:p>
            <a:pPr indent="0" algn="ctr">
              <a:lnSpc>
                <a:spcPct val="125000"/>
              </a:lnSpc>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池化层 (Pooling)</a:t>
            </a:r>
            <a:endPar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5334000" y="3175000"/>
            <a:ext cx="1778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降维与压缩</a:t>
            </a:r>
            <a:endParaRPr lang="en-US" sz="1100"/>
          </a:p>
          <a:p>
            <a:pPr indent="0" algn="l">
              <a:lnSpc>
                <a:spcPct val="117000"/>
              </a:lnSpc>
              <a:spcBef>
                <a:spcPts val="1000"/>
              </a:spcBef>
            </a:pPr>
            <a:r>
              <a:rPr lang="en-US" sz="1200" b="0" i="0" u="none" strike="noStrike">
                <a:solidFill>
                  <a:srgbClr val="606060"/>
                </a:solidFill>
                <a:latin typeface="Noto Sans SC" panose="020B0200000000000000" charset="-122"/>
                <a:ea typeface="Noto Sans SC" panose="020B0200000000000000" charset="-122"/>
                <a:cs typeface="Noto Sans SC" panose="020B0200000000000000" charset="-122"/>
                <a:sym typeface="Noto Sans SC" panose="020B0200000000000000" charset="-122"/>
              </a:rPr>
              <a:t>对卷积后的特征图进行下采样，显著降低数据的空间尺寸，从而减少计算量并防止过拟合。</a:t>
            </a:r>
            <a:endParaRPr lang="en-US" sz="1200" b="0" i="0" u="none" strike="noStrike">
              <a:solidFill>
                <a:srgbClr val="60606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500"/>
              </a:spcBef>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作用：保留关键特征信息，提高平移不变性</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7429500" y="1905000"/>
            <a:ext cx="2032000" cy="4064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6" name="AutoShape 16"/>
          <p:cNvSpPr/>
          <p:nvPr/>
        </p:nvSpPr>
        <p:spPr>
          <a:xfrm>
            <a:off x="7429500" y="1905000"/>
            <a:ext cx="2032000" cy="10160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556500" y="2032000"/>
            <a:ext cx="177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a:p>
            <a:pPr indent="0" algn="ctr">
              <a:lnSpc>
                <a:spcPct val="125000"/>
              </a:lnSpc>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全连接层 (FC)</a:t>
            </a:r>
            <a:endPar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7556500" y="3175000"/>
            <a:ext cx="1778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特征整合与学习</a:t>
            </a:r>
            <a:endParaRPr lang="en-US" sz="1100"/>
          </a:p>
          <a:p>
            <a:pPr indent="0" algn="l">
              <a:lnSpc>
                <a:spcPct val="117000"/>
              </a:lnSpc>
              <a:spcBef>
                <a:spcPts val="1000"/>
              </a:spcBef>
            </a:pPr>
            <a:r>
              <a:rPr lang="en-US" sz="1200" b="0" i="0" u="none" strike="noStrike">
                <a:solidFill>
                  <a:srgbClr val="606060"/>
                </a:solidFill>
                <a:latin typeface="Noto Sans SC" panose="020B0200000000000000" charset="-122"/>
                <a:ea typeface="Noto Sans SC" panose="020B0200000000000000" charset="-122"/>
                <a:cs typeface="Noto Sans SC" panose="020B0200000000000000" charset="-122"/>
                <a:sym typeface="Noto Sans SC" panose="020B0200000000000000" charset="-122"/>
              </a:rPr>
              <a:t>将前面提取的局部特征“平铺”为一维向量，学习特征之间的高阶组合关系。</a:t>
            </a:r>
            <a:endParaRPr lang="en-US" sz="1200" b="0" i="0" u="none" strike="noStrike">
              <a:solidFill>
                <a:srgbClr val="60606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500"/>
              </a:spcBef>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连接：将特征映射到样本标记空间</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9652000" y="1905000"/>
            <a:ext cx="2032000" cy="4064000"/>
          </a:xfrm>
          <a:prstGeom prst="roundRect">
            <a:avLst>
              <a:gd name="adj" fmla="val 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p:cNvSpPr/>
          <p:nvPr/>
        </p:nvSpPr>
        <p:spPr>
          <a:xfrm>
            <a:off x="9652000" y="1905000"/>
            <a:ext cx="2032000" cy="10160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779000" y="2032000"/>
            <a:ext cx="177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a:p>
            <a:pPr indent="0" algn="ctr">
              <a:lnSpc>
                <a:spcPct val="125000"/>
              </a:lnSpc>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输出层 (Output)</a:t>
            </a:r>
            <a:endPar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9779000" y="3175000"/>
            <a:ext cx="1778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分类概率输出</a:t>
            </a:r>
            <a:endParaRPr lang="en-US" sz="1100"/>
          </a:p>
          <a:p>
            <a:pPr indent="0" algn="l">
              <a:lnSpc>
                <a:spcPct val="117000"/>
              </a:lnSpc>
              <a:spcBef>
                <a:spcPts val="1000"/>
              </a:spcBef>
            </a:pPr>
            <a:r>
              <a:rPr lang="en-US" sz="1200" b="0" i="0" u="none" strike="noStrike">
                <a:solidFill>
                  <a:srgbClr val="60606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 Softmax 等激活函数，输出属于不同类别的概率分布，从而得到最终预测结果。</a:t>
            </a:r>
            <a:endParaRPr lang="en-US" sz="1200" b="0" i="0" u="none" strike="noStrike">
              <a:solidFill>
                <a:srgbClr val="60606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500"/>
              </a:spcBef>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例：0-9 十个数字各自的预测概率</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0" y="6096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数据流：输入 → 特征提取 → 特征压缩 → 特征整合 → 结果输出</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卷积层详解</a:t>
            </a:r>
            <a:endParaRPr lang="en-US" sz="1100"/>
          </a:p>
        </p:txBody>
      </p:sp>
      <p:sp>
        <p:nvSpPr>
          <p:cNvPr id="3" name="AutoShape 3"/>
          <p:cNvSpPr/>
          <p:nvPr/>
        </p:nvSpPr>
        <p:spPr>
          <a:xfrm>
            <a:off x="762000" y="1651000"/>
            <a:ext cx="5207000" cy="4572000"/>
          </a:xfrm>
          <a:prstGeom prst="roundRect">
            <a:avLst>
              <a:gd name="adj" fmla="val 3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905000"/>
            <a:ext cx="50800" cy="3048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193800" y="18796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核心作用：自动特征提取</a:t>
            </a:r>
            <a:endParaRPr lang="en-US" sz="1100"/>
          </a:p>
        </p:txBody>
      </p:sp>
      <p:sp>
        <p:nvSpPr>
          <p:cNvPr id="6" name="AutoShape 6"/>
          <p:cNvSpPr/>
          <p:nvPr/>
        </p:nvSpPr>
        <p:spPr>
          <a:xfrm>
            <a:off x="1016000" y="2413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作为CNN的核心组件，卷积层无需人工干预，能自动扫描图像并精准提取边缘、角点、纹理等关键局部特征，为后续的图像识别奠定基础。</a:t>
            </a:r>
            <a:endParaRPr lang="en-US" sz="1100"/>
          </a:p>
        </p:txBody>
      </p:sp>
      <p:sp>
        <p:nvSpPr>
          <p:cNvPr id="7" name="AutoShape 7"/>
          <p:cNvSpPr/>
          <p:nvPr/>
        </p:nvSpPr>
        <p:spPr>
          <a:xfrm>
            <a:off x="1016000" y="3429000"/>
            <a:ext cx="1524000" cy="2413000"/>
          </a:xfrm>
          <a:prstGeom prst="roundRect">
            <a:avLst>
              <a:gd name="adj" fmla="val 6666"/>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60500" y="3619500"/>
            <a:ext cx="609600" cy="609600"/>
          </a:xfrm>
          <a:prstGeom prst="rect">
            <a:avLst/>
          </a:prstGeom>
        </p:spPr>
      </p:pic>
      <p:sp>
        <p:nvSpPr>
          <p:cNvPr id="9" name="AutoShape 9"/>
          <p:cNvSpPr/>
          <p:nvPr/>
        </p:nvSpPr>
        <p:spPr>
          <a:xfrm>
            <a:off x="1143000" y="4445000"/>
            <a:ext cx="1270000" cy="1270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 卷积核 (Kernel)</a:t>
            </a:r>
            <a:endParaRPr lang="en-US" sz="1100"/>
          </a:p>
          <a:p>
            <a:pPr indent="0" algn="ctr">
              <a:lnSpc>
                <a:spcPct val="108000"/>
              </a:lnSpc>
            </a:pPr>
            <a:r>
              <a:rPr lang="en-US" sz="11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如3x3或5x5的权重矩阵，每个卷积核都“专精”于识别一种特定的视觉特征。</a:t>
            </a:r>
            <a:endParaRPr lang="en-US" sz="11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2603500" y="3429000"/>
            <a:ext cx="1524000" cy="2413000"/>
          </a:xfrm>
          <a:prstGeom prst="roundRect">
            <a:avLst>
              <a:gd name="adj" fmla="val 6666"/>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48000" y="3619500"/>
            <a:ext cx="609600" cy="609600"/>
          </a:xfrm>
          <a:prstGeom prst="rect">
            <a:avLst/>
          </a:prstGeom>
        </p:spPr>
      </p:pic>
      <p:sp>
        <p:nvSpPr>
          <p:cNvPr id="12" name="AutoShape 12"/>
          <p:cNvSpPr/>
          <p:nvPr/>
        </p:nvSpPr>
        <p:spPr>
          <a:xfrm>
            <a:off x="2730500" y="4445000"/>
            <a:ext cx="1270000" cy="1270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 滑动窗口</a:t>
            </a:r>
            <a:endParaRPr lang="en-US" sz="1100"/>
          </a:p>
          <a:p>
            <a:pPr indent="0" algn="ctr">
              <a:lnSpc>
                <a:spcPct val="108000"/>
              </a:lnSpc>
            </a:pPr>
            <a:r>
              <a:rPr lang="en-US" sz="11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卷积核按固定步长在输入图像上移动，逐点计算核与对应区域的点积。</a:t>
            </a:r>
            <a:endParaRPr lang="en-US" sz="11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4191000" y="3429000"/>
            <a:ext cx="1524000" cy="2413000"/>
          </a:xfrm>
          <a:prstGeom prst="roundRect">
            <a:avLst>
              <a:gd name="adj" fmla="val 6666"/>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35500" y="3619500"/>
            <a:ext cx="609600" cy="609600"/>
          </a:xfrm>
          <a:prstGeom prst="rect">
            <a:avLst/>
          </a:prstGeom>
        </p:spPr>
      </p:pic>
      <p:sp>
        <p:nvSpPr>
          <p:cNvPr id="15" name="AutoShape 15"/>
          <p:cNvSpPr/>
          <p:nvPr/>
        </p:nvSpPr>
        <p:spPr>
          <a:xfrm>
            <a:off x="4318000" y="4445000"/>
            <a:ext cx="1270000" cy="1270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 特征图 (Map)</a:t>
            </a:r>
            <a:endParaRPr lang="en-US" sz="1100"/>
          </a:p>
          <a:p>
            <a:pPr indent="0" algn="ctr">
              <a:lnSpc>
                <a:spcPct val="108000"/>
              </a:lnSpc>
            </a:pPr>
            <a:r>
              <a:rPr lang="en-US" sz="11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所有计算结果构成新的二维矩阵，数值大小代表特征在该位置的激活强度。</a:t>
            </a:r>
            <a:endParaRPr lang="en-US" sz="11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6223000" y="1651000"/>
            <a:ext cx="5207000" cy="4572000"/>
          </a:xfrm>
          <a:prstGeom prst="roundRect">
            <a:avLst>
              <a:gd name="adj" fmla="val 3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6477000" y="2032000"/>
            <a:ext cx="1270000" cy="1524000"/>
          </a:xfrm>
          <a:prstGeom prst="roundRect">
            <a:avLst>
              <a:gd name="adj" fmla="val 6000"/>
            </a:avLst>
          </a:prstGeom>
          <a:solidFill>
            <a:srgbClr val="F1F3F5">
              <a:alpha val="100000"/>
            </a:srgbClr>
          </a:solidFill>
          <a:ln w="12700" cap="flat" cmpd="sng">
            <a:solidFill>
              <a:srgbClr val="C8C8C8">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2286000"/>
            <a:ext cx="1270000" cy="889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Input</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Image</a:t>
            </a:r>
            <a:endParaRPr lang="en-US" sz="1100"/>
          </a:p>
          <a:p>
            <a:pPr indent="0" algn="ctr">
              <a:lnSpc>
                <a:spcPct val="125000"/>
              </a:lnSpc>
            </a:pPr>
            <a:r>
              <a:rPr lang="en-US" sz="1000" b="0" i="0" u="none" strike="noStrike">
                <a:solidFill>
                  <a:srgbClr val="828282"/>
                </a:solidFill>
                <a:latin typeface="Noto Sans SC" panose="020B0200000000000000" charset="-122"/>
                <a:ea typeface="Noto Sans SC" panose="020B0200000000000000" charset="-122"/>
                <a:cs typeface="Noto Sans SC" panose="020B0200000000000000" charset="-122"/>
                <a:sym typeface="Noto Sans SC" panose="020B0200000000000000" charset="-122"/>
              </a:rPr>
              <a:t>(5x5 像素矩阵)</a:t>
            </a:r>
            <a:endParaRPr lang="en-US" sz="1000" b="0" i="0" u="none" strike="noStrike">
              <a:solidFill>
                <a:srgbClr val="82828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8064500" y="2032000"/>
            <a:ext cx="1270000" cy="1524000"/>
          </a:xfrm>
          <a:prstGeom prst="roundRect">
            <a:avLst>
              <a:gd name="adj" fmla="val 6000"/>
            </a:avLst>
          </a:prstGeom>
          <a:solidFill>
            <a:srgbClr val="2ECC71">
              <a:alpha val="15000"/>
            </a:srgbClr>
          </a:solidFill>
          <a:ln w="25400" cap="flat" cmpd="sng">
            <a:solidFill>
              <a:srgbClr val="2ECC71">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8064500" y="2286000"/>
            <a:ext cx="1270000" cy="889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a:t>
            </a:r>
            <a:br>
              <a:rPr lang="en-US" sz="1600" b="0"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(Filter)</a:t>
            </a:r>
            <a:endParaRPr lang="en-US" sz="1100"/>
          </a:p>
          <a:p>
            <a:pPr indent="0" algn="ctr">
              <a:lnSpc>
                <a:spcPct val="125000"/>
              </a:lnSpc>
            </a:pPr>
            <a:r>
              <a:rPr lang="en-US" sz="1000" b="0"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3x3 权重矩阵</a:t>
            </a:r>
            <a:endParaRPr lang="en-US" sz="1000" b="0"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9652000" y="2032000"/>
            <a:ext cx="1270000" cy="1524000"/>
          </a:xfrm>
          <a:prstGeom prst="roundRect">
            <a:avLst>
              <a:gd name="adj" fmla="val 6000"/>
            </a:avLst>
          </a:prstGeom>
          <a:solidFill>
            <a:srgbClr val="EBF5FB">
              <a:alpha val="100000"/>
            </a:srgbClr>
          </a:solidFill>
          <a:ln w="12700" cap="flat" cmpd="sng">
            <a:solidFill>
              <a:srgbClr val="3498DB">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9652000" y="2286000"/>
            <a:ext cx="1270000" cy="889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1" i="0" u="none" strike="noStrike">
                <a:solidFill>
                  <a:srgbClr val="2980B9"/>
                </a:solidFill>
                <a:latin typeface="Noto Sans SC" panose="020B0200000000000000" charset="-122"/>
                <a:ea typeface="Noto Sans SC" panose="020B0200000000000000" charset="-122"/>
                <a:cs typeface="Noto Sans SC" panose="020B0200000000000000" charset="-122"/>
                <a:sym typeface="Noto Sans SC" panose="020B0200000000000000" charset="-122"/>
              </a:rPr>
              <a:t>Feature</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1" i="0" u="none" strike="noStrike">
                <a:solidFill>
                  <a:srgbClr val="2980B9"/>
                </a:solidFill>
                <a:latin typeface="Noto Sans SC" panose="020B0200000000000000" charset="-122"/>
                <a:ea typeface="Noto Sans SC" panose="020B0200000000000000" charset="-122"/>
                <a:cs typeface="Noto Sans SC" panose="020B0200000000000000" charset="-122"/>
                <a:sym typeface="Noto Sans SC" panose="020B0200000000000000" charset="-122"/>
              </a:rPr>
              <a:t>Map</a:t>
            </a:r>
            <a:endParaRPr lang="en-US" sz="1100"/>
          </a:p>
          <a:p>
            <a:pPr indent="0" algn="ctr">
              <a:lnSpc>
                <a:spcPct val="125000"/>
              </a:lnSpc>
            </a:pPr>
            <a:r>
              <a:rPr lang="en-US" sz="10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提取后的特征强度</a:t>
            </a:r>
            <a:endParaRPr lang="en-US" sz="1000" b="0" i="0"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3" name="Picture 2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0" y="2540000"/>
            <a:ext cx="304800" cy="304800"/>
          </a:xfrm>
          <a:prstGeom prst="rect">
            <a:avLst/>
          </a:prstGeom>
        </p:spPr>
      </p:pic>
      <p:pic>
        <p:nvPicPr>
          <p:cNvPr id="24"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07500" y="2540000"/>
            <a:ext cx="304800" cy="304800"/>
          </a:xfrm>
          <a:prstGeom prst="rect">
            <a:avLst/>
          </a:prstGeom>
        </p:spPr>
      </p:pic>
      <p:sp>
        <p:nvSpPr>
          <p:cNvPr id="25" name="AutoShape 25"/>
          <p:cNvSpPr/>
          <p:nvPr/>
        </p:nvSpPr>
        <p:spPr>
          <a:xfrm>
            <a:off x="6477000" y="3937000"/>
            <a:ext cx="4445000" cy="1905000"/>
          </a:xfrm>
          <a:prstGeom prst="roundRect">
            <a:avLst>
              <a:gd name="adj" fmla="val 5333"/>
            </a:avLst>
          </a:prstGeom>
          <a:solidFill>
            <a:srgbClr val="F0F9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667500" y="4191000"/>
            <a:ext cx="406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 一句话总结：</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卷积层就像是一个“视觉侦探”，通过不同的“放大镜”（卷积核），在图片上“扫描”（滑动窗口），最后把所有找到的线索（特征）整理成一份“线索地图”（特征图），方便后续的网络分析。</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池化层详解：特征压缩与降维</a:t>
            </a:r>
            <a:endParaRPr lang="en-US" sz="1100"/>
          </a:p>
        </p:txBody>
      </p:sp>
      <p:sp>
        <p:nvSpPr>
          <p:cNvPr id="3" name="AutoShape 3"/>
          <p:cNvSpPr/>
          <p:nvPr/>
        </p:nvSpPr>
        <p:spPr>
          <a:xfrm>
            <a:off x="762000" y="1651000"/>
            <a:ext cx="5207000" cy="1397000"/>
          </a:xfrm>
          <a:prstGeom prst="roundRect">
            <a:avLst>
              <a:gd name="adj" fmla="val 1090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762000" y="1651000"/>
            <a:ext cx="76200" cy="13970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79500" y="1841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核心价值：降维 · 提速 · 简化</a:t>
            </a:r>
            <a:endParaRPr lang="en-US" sz="1100"/>
          </a:p>
          <a:p>
            <a:pPr indent="0" algn="l">
              <a:lnSpc>
                <a:spcPct val="108000"/>
              </a:lnSpc>
              <a:spcBef>
                <a:spcPts val="800"/>
              </a:spcBef>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池化层通常紧随卷积层使用，核心目的是降低特征图的空间尺寸。这不仅大幅减少了后续网络的计算量和参数量，还能保留关键特征信息。</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429000"/>
            <a:ext cx="1651000" cy="2794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3683000"/>
            <a:ext cx="508000" cy="508000"/>
          </a:xfrm>
          <a:prstGeom prst="rect">
            <a:avLst/>
          </a:prstGeom>
        </p:spPr>
      </p:pic>
      <p:sp>
        <p:nvSpPr>
          <p:cNvPr id="8" name="AutoShape 8"/>
          <p:cNvSpPr/>
          <p:nvPr/>
        </p:nvSpPr>
        <p:spPr>
          <a:xfrm>
            <a:off x="889000" y="4445000"/>
            <a:ext cx="1397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下采样降维</a:t>
            </a:r>
            <a:endParaRPr lang="en-US" sz="1100"/>
          </a:p>
          <a:p>
            <a:pPr indent="0" algn="ctr">
              <a:lnSpc>
                <a:spcPct val="117000"/>
              </a:lnSpc>
              <a:spcBef>
                <a:spcPts val="800"/>
              </a:spcBef>
            </a:pPr>
            <a:r>
              <a:rPr lang="en-US" sz="12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对特征图进行区域聚合，例如将2x2的像素区域“压缩”为单个像素，直接减少数据维度。</a:t>
            </a:r>
            <a:endParaRPr lang="en-US" sz="12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2540000" y="3429000"/>
            <a:ext cx="1651000" cy="2794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84500" y="3683000"/>
            <a:ext cx="508000" cy="508000"/>
          </a:xfrm>
          <a:prstGeom prst="rect">
            <a:avLst/>
          </a:prstGeom>
        </p:spPr>
      </p:pic>
      <p:sp>
        <p:nvSpPr>
          <p:cNvPr id="11" name="AutoShape 11"/>
          <p:cNvSpPr/>
          <p:nvPr/>
        </p:nvSpPr>
        <p:spPr>
          <a:xfrm>
            <a:off x="2667000" y="4445000"/>
            <a:ext cx="1397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最大池化 (Max)</a:t>
            </a:r>
            <a:endParaRPr lang="en-US" sz="1100"/>
          </a:p>
          <a:p>
            <a:pPr indent="0" algn="ctr">
              <a:lnSpc>
                <a:spcPct val="117000"/>
              </a:lnSpc>
              <a:spcBef>
                <a:spcPts val="800"/>
              </a:spcBef>
            </a:pPr>
            <a:r>
              <a:rPr lang="en-US" sz="12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最常用的方法。取滑动窗口内的最大值作为输出，能有效保留最显著的纹理和边缘特征。</a:t>
            </a:r>
            <a:endParaRPr lang="en-US" sz="12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4318000" y="3429000"/>
            <a:ext cx="1651000" cy="2794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62500" y="3683000"/>
            <a:ext cx="508000" cy="508000"/>
          </a:xfrm>
          <a:prstGeom prst="rect">
            <a:avLst/>
          </a:prstGeom>
        </p:spPr>
      </p:pic>
      <p:sp>
        <p:nvSpPr>
          <p:cNvPr id="14" name="AutoShape 14"/>
          <p:cNvSpPr/>
          <p:nvPr/>
        </p:nvSpPr>
        <p:spPr>
          <a:xfrm>
            <a:off x="4445000" y="4445000"/>
            <a:ext cx="1397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降低过拟合</a:t>
            </a:r>
            <a:endParaRPr lang="en-US" sz="1100"/>
          </a:p>
          <a:p>
            <a:pPr indent="0" algn="ctr">
              <a:lnSpc>
                <a:spcPct val="117000"/>
              </a:lnSpc>
              <a:spcBef>
                <a:spcPts val="800"/>
              </a:spcBef>
            </a:pPr>
            <a:r>
              <a:rPr lang="en-US" sz="12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通过减少特征数量降低模型整体复杂度，使模型不过度关注局部噪声，提升泛化能力。</a:t>
            </a:r>
            <a:endParaRPr lang="en-US" sz="12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223000" y="1651000"/>
            <a:ext cx="5207000" cy="4572000"/>
          </a:xfrm>
          <a:prstGeom prst="roundRect">
            <a:avLst>
              <a:gd name="adj" fmla="val 3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6" name="AutoShape 16"/>
          <p:cNvSpPr/>
          <p:nvPr/>
        </p:nvSpPr>
        <p:spPr>
          <a:xfrm>
            <a:off x="6350000" y="1905000"/>
            <a:ext cx="4953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2x2 Max Pooling 原理示意</a:t>
            </a:r>
            <a:endParaRPr lang="en-US" sz="1100"/>
          </a:p>
        </p:txBody>
      </p:sp>
      <p:sp>
        <p:nvSpPr>
          <p:cNvPr id="17" name="AutoShape 17"/>
          <p:cNvSpPr/>
          <p:nvPr/>
        </p:nvSpPr>
        <p:spPr>
          <a:xfrm>
            <a:off x="6604000" y="2667000"/>
            <a:ext cx="4445000" cy="2032000"/>
          </a:xfrm>
          <a:prstGeom prst="roundRect">
            <a:avLst>
              <a:gd name="adj" fmla="val 5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985000" y="2921000"/>
            <a:ext cx="635000" cy="635000"/>
          </a:xfrm>
          <a:prstGeom prst="roundRect">
            <a:avLst>
              <a:gd name="adj" fmla="val 0"/>
            </a:avLst>
          </a:prstGeom>
          <a:solidFill>
            <a:srgbClr val="E5E7EB">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874000" y="2921000"/>
            <a:ext cx="635000" cy="635000"/>
          </a:xfrm>
          <a:prstGeom prst="roundRect">
            <a:avLst>
              <a:gd name="adj" fmla="val 0"/>
            </a:avLst>
          </a:prstGeom>
          <a:solidFill>
            <a:srgbClr val="E5E7EB">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985000" y="3810000"/>
            <a:ext cx="635000" cy="635000"/>
          </a:xfrm>
          <a:prstGeom prst="roundRect">
            <a:avLst>
              <a:gd name="adj" fmla="val 0"/>
            </a:avLst>
          </a:prstGeom>
          <a:solidFill>
            <a:srgbClr val="E5E7EB">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7874000" y="3810000"/>
            <a:ext cx="635000" cy="635000"/>
          </a:xfrm>
          <a:prstGeom prst="roundRect">
            <a:avLst>
              <a:gd name="adj" fmla="val 0"/>
            </a:avLst>
          </a:prstGeom>
          <a:solidFill>
            <a:srgbClr val="2ECC71">
              <a:alpha val="90000"/>
            </a:srgbClr>
          </a:solidFill>
          <a:ln w="12700" cap="flat" cmpd="sng">
            <a:solidFill>
              <a:srgbClr val="D1D5DB">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Max</a:t>
            </a:r>
            <a:endParaRPr lang="en-US" sz="1100"/>
          </a:p>
        </p:txBody>
      </p:sp>
      <p:pic>
        <p:nvPicPr>
          <p:cNvPr id="22" name="Picture 2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63000" y="3302000"/>
            <a:ext cx="457200" cy="457200"/>
          </a:xfrm>
          <a:prstGeom prst="rect">
            <a:avLst/>
          </a:prstGeom>
        </p:spPr>
      </p:pic>
      <p:sp>
        <p:nvSpPr>
          <p:cNvPr id="23" name="AutoShape 23"/>
          <p:cNvSpPr/>
          <p:nvPr/>
        </p:nvSpPr>
        <p:spPr>
          <a:xfrm>
            <a:off x="9525000" y="3238500"/>
            <a:ext cx="1016000" cy="1016000"/>
          </a:xfrm>
          <a:prstGeom prst="roundRect">
            <a:avLst>
              <a:gd name="adj" fmla="val 0"/>
            </a:avLst>
          </a:prstGeom>
          <a:solidFill>
            <a:srgbClr val="333333">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Output</a:t>
            </a:r>
            <a:endParaRPr lang="en-US" sz="1100"/>
          </a:p>
          <a:p>
            <a:pPr indent="0" algn="ctr">
              <a:lnSpc>
                <a:spcPct val="125000"/>
              </a:lnSpc>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1 x 1</a:t>
            </a:r>
            <a:endPar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6604000" y="4953000"/>
            <a:ext cx="4445000" cy="1016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在特征图的滑动窗口内，仅保留数值最大的像素点。</a:t>
            </a:r>
            <a:b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这种机制赋予了模型一定的“平移不变性”。</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激活函数：神经网络的“非线性开关”</a:t>
            </a:r>
            <a:endParaRPr lang="en-US" sz="1100"/>
          </a:p>
        </p:txBody>
      </p:sp>
      <p:sp>
        <p:nvSpPr>
          <p:cNvPr id="3" name="AutoShape 3"/>
          <p:cNvSpPr/>
          <p:nvPr/>
        </p:nvSpPr>
        <p:spPr>
          <a:xfrm>
            <a:off x="762000" y="1778000"/>
            <a:ext cx="3302000" cy="4445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762000" y="1778000"/>
            <a:ext cx="3302000" cy="762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22500"/>
            <a:ext cx="508000" cy="508000"/>
          </a:xfrm>
          <a:prstGeom prst="rect">
            <a:avLst/>
          </a:prstGeom>
        </p:spPr>
      </p:pic>
      <p:sp>
        <p:nvSpPr>
          <p:cNvPr id="6" name="AutoShape 6"/>
          <p:cNvSpPr/>
          <p:nvPr/>
        </p:nvSpPr>
        <p:spPr>
          <a:xfrm>
            <a:off x="1651000" y="2222500"/>
            <a:ext cx="2159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核心意义</a:t>
            </a:r>
            <a:endParaRPr lang="en-US" sz="1100"/>
          </a:p>
        </p:txBody>
      </p:sp>
      <p:sp>
        <p:nvSpPr>
          <p:cNvPr id="7" name="AutoShape 7"/>
          <p:cNvSpPr/>
          <p:nvPr/>
        </p:nvSpPr>
        <p:spPr>
          <a:xfrm>
            <a:off x="1016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引入非线性变换</a:t>
            </a:r>
            <a:endParaRPr lang="en-US" sz="1100"/>
          </a:p>
          <a:p>
            <a:pPr indent="0" algn="l">
              <a:lnSpc>
                <a:spcPct val="133000"/>
              </a:lnSpc>
              <a:spcBef>
                <a:spcPts val="1000"/>
              </a:spcBef>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如果没有激活函数，无论神经网络有多少层，都只能表示线性变换，无法拟合复杂的现实世界数据。</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spcBef>
                <a:spcPts val="1200"/>
              </a:spcBef>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它赋予网络处理非线性问题的能力，使其能够逼近任意复杂的函数，从而实现对复杂模式的学习与预测。</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4445000" y="1778000"/>
            <a:ext cx="3302000" cy="4445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4445000" y="1778000"/>
            <a:ext cx="3302000" cy="762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222500"/>
            <a:ext cx="508000" cy="508000"/>
          </a:xfrm>
          <a:prstGeom prst="rect">
            <a:avLst/>
          </a:prstGeom>
        </p:spPr>
      </p:pic>
      <p:sp>
        <p:nvSpPr>
          <p:cNvPr id="11" name="AutoShape 11"/>
          <p:cNvSpPr/>
          <p:nvPr/>
        </p:nvSpPr>
        <p:spPr>
          <a:xfrm>
            <a:off x="5334000" y="2222500"/>
            <a:ext cx="2159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ReLU (最常用)</a:t>
            </a:r>
            <a:endParaRPr lang="en-US" sz="1100"/>
          </a:p>
        </p:txBody>
      </p:sp>
      <p:sp>
        <p:nvSpPr>
          <p:cNvPr id="12" name="AutoShape 12"/>
          <p:cNvSpPr/>
          <p:nvPr/>
        </p:nvSpPr>
        <p:spPr>
          <a:xfrm>
            <a:off x="4699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公式：</a:t>
            </a:r>
            <a:r>
              <a:rPr lang="en-US" sz="13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f(x) = max(0, x)</a:t>
            </a:r>
            <a:endParaRPr lang="en-US" sz="1100"/>
          </a:p>
          <a:p>
            <a:pPr indent="0" algn="l">
              <a:lnSpc>
                <a:spcPct val="133000"/>
              </a:lnSpc>
              <a:spcBef>
                <a:spcPts val="1500"/>
              </a:spcBef>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计算极快：</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仅需简单的比较和阈值操作，效率极高。</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缓解梯度消失：</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相比 Sigmoid 等饱和激活函数，ReLU 有效解决了深层网络中的梯度消失问题，使构建深度网络成为可能。</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注意：</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输入为负时，神经元可能“死亡”，导致参数无法更新。</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8128000" y="1778000"/>
            <a:ext cx="3302000" cy="4445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8128000" y="1778000"/>
            <a:ext cx="3302000" cy="762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222500"/>
            <a:ext cx="508000" cy="508000"/>
          </a:xfrm>
          <a:prstGeom prst="rect">
            <a:avLst/>
          </a:prstGeom>
        </p:spPr>
      </p:pic>
      <p:sp>
        <p:nvSpPr>
          <p:cNvPr id="16" name="AutoShape 16"/>
          <p:cNvSpPr/>
          <p:nvPr/>
        </p:nvSpPr>
        <p:spPr>
          <a:xfrm>
            <a:off x="9017000" y="2222500"/>
            <a:ext cx="2159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其他经典函数</a:t>
            </a:r>
            <a:endParaRPr lang="en-US" sz="1100"/>
          </a:p>
        </p:txBody>
      </p:sp>
      <p:sp>
        <p:nvSpPr>
          <p:cNvPr id="17" name="AutoShape 17"/>
          <p:cNvSpPr/>
          <p:nvPr/>
        </p:nvSpPr>
        <p:spPr>
          <a:xfrm>
            <a:off x="8382000" y="3048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Sigmoid</a:t>
            </a:r>
            <a:endParaRPr lang="en-US" sz="1100"/>
          </a:p>
          <a:p>
            <a:pPr indent="0" algn="l">
              <a:lnSpc>
                <a:spcPct val="117000"/>
              </a:lnSpc>
              <a:spcBef>
                <a:spcPts val="400"/>
              </a:spcBef>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将输入映射到</a:t>
            </a:r>
            <a:r>
              <a:rPr lang="en-US" sz="1200" b="0"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(0, 1)</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区间。</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常用于二分类问题的输出层，表示概率。</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800"/>
              </a:spcBef>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Tanh (双曲正切)</a:t>
            </a:r>
            <a:endPar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400"/>
              </a:spcBef>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将输入映射到</a:t>
            </a:r>
            <a:r>
              <a:rPr lang="en-US" sz="1200" b="0"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(-1, 1)</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区间。</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相比 Sigmoid，输出均值更接近0，收敛速度更快。</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损失函数与优化</a:t>
            </a:r>
            <a:endParaRPr lang="en-US" sz="1100"/>
          </a:p>
        </p:txBody>
      </p:sp>
      <p:sp>
        <p:nvSpPr>
          <p:cNvPr id="3" name="AutoShape 3"/>
          <p:cNvSpPr/>
          <p:nvPr/>
        </p:nvSpPr>
        <p:spPr>
          <a:xfrm>
            <a:off x="762000" y="1778000"/>
            <a:ext cx="5207000" cy="4445000"/>
          </a:xfrm>
          <a:prstGeom prst="roundRect">
            <a:avLst>
              <a:gd name="adj" fmla="val 34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762000" y="1778000"/>
            <a:ext cx="5207000" cy="762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2286000"/>
            <a:ext cx="609600" cy="609600"/>
          </a:xfrm>
          <a:prstGeom prst="rect">
            <a:avLst/>
          </a:prstGeom>
        </p:spPr>
      </p:pic>
      <p:sp>
        <p:nvSpPr>
          <p:cNvPr id="6" name="AutoShape 6"/>
          <p:cNvSpPr/>
          <p:nvPr/>
        </p:nvSpPr>
        <p:spPr>
          <a:xfrm>
            <a:off x="2032000" y="22860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损失函数 (Loss Function)</a:t>
            </a:r>
            <a:endParaRPr lang="en-US" sz="1100"/>
          </a:p>
        </p:txBody>
      </p:sp>
      <p:sp>
        <p:nvSpPr>
          <p:cNvPr id="7" name="AutoShape 7"/>
          <p:cNvSpPr/>
          <p:nvPr/>
        </p:nvSpPr>
        <p:spPr>
          <a:xfrm>
            <a:off x="1143000" y="3302000"/>
            <a:ext cx="4445000" cy="266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spcBef>
                <a:spcPts val="1000"/>
              </a:spcBef>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核心作用</a:t>
            </a:r>
            <a:endParaRPr lang="en-US" sz="1100"/>
          </a:p>
          <a:p>
            <a:pPr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衡量模型预测结果与真实标签之间的差异。损失值越小，代表模型的预测结果越精准。</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2000"/>
              </a:spcBef>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常用类型：分类问题</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最常用的是</a:t>
            </a:r>
            <a:r>
              <a:rPr lang="en-US" sz="13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交叉熵损失 (Cross-Entropy Loss)</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，它能高效衡量预测概率分布与真实概率分布之间的“距离”。</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23000" y="1778000"/>
            <a:ext cx="5207000" cy="4445000"/>
          </a:xfrm>
          <a:prstGeom prst="roundRect">
            <a:avLst>
              <a:gd name="adj" fmla="val 34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6223000" y="1778000"/>
            <a:ext cx="5207000" cy="762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286000"/>
            <a:ext cx="609600" cy="609600"/>
          </a:xfrm>
          <a:prstGeom prst="rect">
            <a:avLst/>
          </a:prstGeom>
        </p:spPr>
      </p:pic>
      <p:sp>
        <p:nvSpPr>
          <p:cNvPr id="11" name="AutoShape 11"/>
          <p:cNvSpPr/>
          <p:nvPr/>
        </p:nvSpPr>
        <p:spPr>
          <a:xfrm>
            <a:off x="7493000" y="22860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优化器 (Optimizer)</a:t>
            </a:r>
            <a:endParaRPr lang="en-US" sz="1100"/>
          </a:p>
        </p:txBody>
      </p:sp>
      <p:sp>
        <p:nvSpPr>
          <p:cNvPr id="12" name="AutoShape 12"/>
          <p:cNvSpPr/>
          <p:nvPr/>
        </p:nvSpPr>
        <p:spPr>
          <a:xfrm>
            <a:off x="6604000" y="3302000"/>
            <a:ext cx="4445000" cy="266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spcBef>
                <a:spcPts val="1000"/>
              </a:spcBef>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核心功能</a:t>
            </a:r>
            <a:endParaRPr lang="en-US" sz="1100"/>
          </a:p>
          <a:p>
            <a:pPr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根据损失函数计算出的梯度信息，动态调整神经网络中的权重与偏置参数，最终实现“最小化损失”的目标。</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2000"/>
              </a:spcBef>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背后逻辑</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依托于反向传播算法计算梯度，优化器会沿着“梯度下降”的方向不断更新模型参数，让模型在训练中持续进化。</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前向传播与反向传播：训练核心逻辑</a:t>
            </a:r>
            <a:endParaRPr lang="en-US" sz="1100"/>
          </a:p>
        </p:txBody>
      </p:sp>
      <p:sp>
        <p:nvSpPr>
          <p:cNvPr id="3" name="AutoShape 3"/>
          <p:cNvSpPr/>
          <p:nvPr/>
        </p:nvSpPr>
        <p:spPr>
          <a:xfrm>
            <a:off x="762000" y="1778000"/>
            <a:ext cx="2540000" cy="3175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32000"/>
            <a:ext cx="406400" cy="406400"/>
          </a:xfrm>
          <a:prstGeom prst="rect">
            <a:avLst/>
          </a:prstGeom>
        </p:spPr>
      </p:pic>
      <p:sp>
        <p:nvSpPr>
          <p:cNvPr id="5" name="AutoShape 5"/>
          <p:cNvSpPr/>
          <p:nvPr/>
        </p:nvSpPr>
        <p:spPr>
          <a:xfrm>
            <a:off x="1524000" y="2032000"/>
            <a:ext cx="152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前向传播</a:t>
            </a:r>
            <a:endParaRPr lang="en-US" sz="1100"/>
          </a:p>
        </p:txBody>
      </p:sp>
      <p:sp>
        <p:nvSpPr>
          <p:cNvPr id="6" name="AutoShape 6"/>
          <p:cNvSpPr/>
          <p:nvPr/>
        </p:nvSpPr>
        <p:spPr>
          <a:xfrm>
            <a:off x="952500" y="2794000"/>
            <a:ext cx="2159000" cy="190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将一批训练数据输入网络。</a:t>
            </a:r>
            <a:endParaRPr lang="en-US" sz="1100"/>
          </a:p>
          <a:p>
            <a:pPr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逐层计算网络的激活值，最终得到模型的预测输出。</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3467100" y="1778000"/>
            <a:ext cx="2540000" cy="3175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21100" y="2032000"/>
            <a:ext cx="406400" cy="406400"/>
          </a:xfrm>
          <a:prstGeom prst="rect">
            <a:avLst/>
          </a:prstGeom>
        </p:spPr>
      </p:pic>
      <p:sp>
        <p:nvSpPr>
          <p:cNvPr id="9" name="AutoShape 9"/>
          <p:cNvSpPr/>
          <p:nvPr/>
        </p:nvSpPr>
        <p:spPr>
          <a:xfrm>
            <a:off x="4229100" y="2032000"/>
            <a:ext cx="152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计算损失</a:t>
            </a:r>
            <a:endParaRPr lang="en-US" sz="1100"/>
          </a:p>
        </p:txBody>
      </p:sp>
      <p:sp>
        <p:nvSpPr>
          <p:cNvPr id="10" name="AutoShape 10"/>
          <p:cNvSpPr/>
          <p:nvPr/>
        </p:nvSpPr>
        <p:spPr>
          <a:xfrm>
            <a:off x="3657600" y="2794000"/>
            <a:ext cx="2159000" cy="190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选取合适的损失函数 (Loss Function)。</a:t>
            </a:r>
            <a:endParaRPr lang="en-US" sz="1100"/>
          </a:p>
          <a:p>
            <a:pPr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将预测输出与数据的真实标签代入函数，计算误差数值。</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172200" y="1778000"/>
            <a:ext cx="2540000" cy="3175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6200" y="2032000"/>
            <a:ext cx="406400" cy="406400"/>
          </a:xfrm>
          <a:prstGeom prst="rect">
            <a:avLst/>
          </a:prstGeom>
        </p:spPr>
      </p:pic>
      <p:sp>
        <p:nvSpPr>
          <p:cNvPr id="13" name="AutoShape 13"/>
          <p:cNvSpPr/>
          <p:nvPr/>
        </p:nvSpPr>
        <p:spPr>
          <a:xfrm>
            <a:off x="6934200" y="2032000"/>
            <a:ext cx="152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反向传播</a:t>
            </a:r>
            <a:endParaRPr lang="en-US" sz="1100"/>
          </a:p>
        </p:txBody>
      </p:sp>
      <p:sp>
        <p:nvSpPr>
          <p:cNvPr id="14" name="AutoShape 14"/>
          <p:cNvSpPr/>
          <p:nvPr/>
        </p:nvSpPr>
        <p:spPr>
          <a:xfrm>
            <a:off x="6362700" y="2794000"/>
            <a:ext cx="2159000" cy="190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利用微积分中的链式法则，从输出层向输入层反向计算。</a:t>
            </a:r>
            <a:endParaRPr lang="en-US" sz="1100"/>
          </a:p>
          <a:p>
            <a:pPr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计算出损失函数对网络中每个参数的梯度 (Gradient)。</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877300" y="1778000"/>
            <a:ext cx="2540000" cy="3175000"/>
          </a:xfrm>
          <a:prstGeom prst="roundRect">
            <a:avLst>
              <a:gd name="adj" fmla="val 6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31300" y="2032000"/>
            <a:ext cx="406400" cy="406400"/>
          </a:xfrm>
          <a:prstGeom prst="rect">
            <a:avLst/>
          </a:prstGeom>
        </p:spPr>
      </p:pic>
      <p:sp>
        <p:nvSpPr>
          <p:cNvPr id="17" name="AutoShape 17"/>
          <p:cNvSpPr/>
          <p:nvPr/>
        </p:nvSpPr>
        <p:spPr>
          <a:xfrm>
            <a:off x="9639300" y="2032000"/>
            <a:ext cx="152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更新权重</a:t>
            </a:r>
            <a:endParaRPr lang="en-US" sz="1100"/>
          </a:p>
        </p:txBody>
      </p:sp>
      <p:sp>
        <p:nvSpPr>
          <p:cNvPr id="18" name="AutoShape 18"/>
          <p:cNvSpPr/>
          <p:nvPr/>
        </p:nvSpPr>
        <p:spPr>
          <a:xfrm>
            <a:off x="9067800" y="2794000"/>
            <a:ext cx="2159000" cy="190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优化器（如SGD、Adam）利用计算出的梯度，调整网络中的权重和偏置。</a:t>
            </a:r>
            <a:endParaRPr lang="en-US" sz="1100"/>
          </a:p>
          <a:p>
            <a:pPr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目标是让损失值逐步减小。</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762000" y="5334000"/>
            <a:ext cx="10668000" cy="1143000"/>
          </a:xfrm>
          <a:prstGeom prst="roundRect">
            <a:avLst>
              <a:gd name="adj" fmla="val 8888"/>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89000" y="5524500"/>
            <a:ext cx="10414000" cy="762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重复以上四个步骤，直到</a:t>
            </a:r>
            <a:r>
              <a:rPr lang="en-US" sz="16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损失值稳定下降、收敛或达到预设的训练轮次 (Epochs)</a:t>
            </a: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，完成模型训练。</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训练过程观察</a:t>
            </a:r>
            <a:endParaRPr lang="en-US" sz="1100"/>
          </a:p>
        </p:txBody>
      </p:sp>
      <p:sp>
        <p:nvSpPr>
          <p:cNvPr id="3" name="AutoShape 3"/>
          <p:cNvSpPr/>
          <p:nvPr/>
        </p:nvSpPr>
        <p:spPr>
          <a:xfrm>
            <a:off x="762000" y="1778000"/>
            <a:ext cx="5207000" cy="3175000"/>
          </a:xfrm>
          <a:prstGeom prst="roundRect">
            <a:avLst>
              <a:gd name="adj" fmla="val 48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32000"/>
            <a:ext cx="457200" cy="457200"/>
          </a:xfrm>
          <a:prstGeom prst="rect">
            <a:avLst/>
          </a:prstGeom>
        </p:spPr>
      </p:pic>
      <p:sp>
        <p:nvSpPr>
          <p:cNvPr id="5" name="AutoShape 5"/>
          <p:cNvSpPr/>
          <p:nvPr/>
        </p:nvSpPr>
        <p:spPr>
          <a:xfrm>
            <a:off x="1651000" y="20320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损失曲线 (Loss Curve)</a:t>
            </a:r>
            <a:endParaRPr lang="en-US" sz="1100"/>
          </a:p>
        </p:txBody>
      </p:sp>
      <p:sp>
        <p:nvSpPr>
          <p:cNvPr id="6" name="AutoShape 6"/>
          <p:cNvSpPr/>
          <p:nvPr/>
        </p:nvSpPr>
        <p:spPr>
          <a:xfrm>
            <a:off x="1016000" y="2921000"/>
            <a:ext cx="4699000" cy="1778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横轴：</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训练轮次 (Epoch) |</a:t>
            </a: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纵轴：</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损失值 (Loss)</a:t>
            </a:r>
            <a:endParaRPr lang="en-US" sz="1100"/>
          </a:p>
          <a:p>
            <a:pPr indent="0" algn="l">
              <a:lnSpc>
                <a:spcPct val="133000"/>
              </a:lnSpc>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理想趋势：</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随着训练进行，训练集与验证集的损失值应呈现</a:t>
            </a: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稳步下降</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趋势，并最终收敛趋于平稳，表明模型在持续学习和泛化。</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223000" y="1778000"/>
            <a:ext cx="5207000" cy="3175000"/>
          </a:xfrm>
          <a:prstGeom prst="roundRect">
            <a:avLst>
              <a:gd name="adj" fmla="val 48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032000"/>
            <a:ext cx="457200" cy="457200"/>
          </a:xfrm>
          <a:prstGeom prst="rect">
            <a:avLst/>
          </a:prstGeom>
        </p:spPr>
      </p:pic>
      <p:sp>
        <p:nvSpPr>
          <p:cNvPr id="9" name="AutoShape 9"/>
          <p:cNvSpPr/>
          <p:nvPr/>
        </p:nvSpPr>
        <p:spPr>
          <a:xfrm>
            <a:off x="7112000" y="20320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准确率曲线 (Accuracy Curve)</a:t>
            </a:r>
            <a:endParaRPr lang="en-US" sz="1100"/>
          </a:p>
        </p:txBody>
      </p:sp>
      <p:sp>
        <p:nvSpPr>
          <p:cNvPr id="10" name="AutoShape 10"/>
          <p:cNvSpPr/>
          <p:nvPr/>
        </p:nvSpPr>
        <p:spPr>
          <a:xfrm>
            <a:off x="6477000" y="2921000"/>
            <a:ext cx="4699000" cy="1778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横轴：</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训练轮次 (Epoch) |</a:t>
            </a: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纵轴：</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 (Accuracy)</a:t>
            </a:r>
            <a:endParaRPr lang="en-US" sz="1100"/>
          </a:p>
          <a:p>
            <a:pPr indent="0" algn="l">
              <a:lnSpc>
                <a:spcPct val="133000"/>
              </a:lnSpc>
            </a:pP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理想趋势：</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随着训练进行，训练集与验证集的准确率应呈现</a:t>
            </a:r>
            <a:r>
              <a:rPr lang="en-US" sz="13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稳步上升</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趋势，并最终在较高水平趋于稳定，代表模型预测能力的提升。</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762000" y="5207000"/>
            <a:ext cx="10668000" cy="1270000"/>
          </a:xfrm>
          <a:prstGeom prst="roundRect">
            <a:avLst>
              <a:gd name="adj" fmla="val 1200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5499100"/>
            <a:ext cx="558800" cy="558800"/>
          </a:xfrm>
          <a:prstGeom prst="rect">
            <a:avLst/>
          </a:prstGeom>
        </p:spPr>
      </p:pic>
      <p:sp>
        <p:nvSpPr>
          <p:cNvPr id="13" name="AutoShape 13"/>
          <p:cNvSpPr/>
          <p:nvPr/>
        </p:nvSpPr>
        <p:spPr>
          <a:xfrm>
            <a:off x="1905000" y="5397500"/>
            <a:ext cx="9271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关键作用：过拟合监测</a:t>
            </a:r>
            <a:endParaRPr lang="en-US" sz="1100"/>
          </a:p>
          <a:p>
            <a:pPr indent="0" algn="l">
              <a:lnSpc>
                <a:spcPct val="117000"/>
              </a:lnSpc>
            </a:pPr>
            <a:r>
              <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对比验证集与训练集的曲线走势是判断模型状态的核心依据。若训练集损失持续下降，但验证集损失停止下降并开始上升，即标志着模型出现</a:t>
            </a: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“过拟合”</a:t>
            </a:r>
            <a:r>
              <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，此时应及时停止训练或引入正则化策略。</a:t>
            </a:r>
            <a:endParaRPr lang="en-US" sz="13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网络输出预测</a:t>
            </a:r>
            <a:endParaRPr lang="en-US" sz="1100"/>
          </a:p>
        </p:txBody>
      </p:sp>
      <p:sp>
        <p:nvSpPr>
          <p:cNvPr id="3" name="AutoShape 3"/>
          <p:cNvSpPr/>
          <p:nvPr/>
        </p:nvSpPr>
        <p:spPr>
          <a:xfrm>
            <a:off x="762000" y="1651000"/>
            <a:ext cx="5207000" cy="2667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952500" y="1841500"/>
            <a:ext cx="2349500" cy="1079500"/>
          </a:xfrm>
          <a:prstGeom prst="roundRect">
            <a:avLst>
              <a:gd name="adj" fmla="val 94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032000"/>
            <a:ext cx="304800" cy="304800"/>
          </a:xfrm>
          <a:prstGeom prst="rect">
            <a:avLst/>
          </a:prstGeom>
        </p:spPr>
      </p:pic>
      <p:sp>
        <p:nvSpPr>
          <p:cNvPr id="6" name="AutoShape 6"/>
          <p:cNvSpPr/>
          <p:nvPr/>
        </p:nvSpPr>
        <p:spPr>
          <a:xfrm>
            <a:off x="1460500" y="1968500"/>
            <a:ext cx="17145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输入图像</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输入一张全新的、未见过的手写数字图片作为模型输入</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3429000" y="1841500"/>
            <a:ext cx="2349500" cy="1079500"/>
          </a:xfrm>
          <a:prstGeom prst="roundRect">
            <a:avLst>
              <a:gd name="adj" fmla="val 94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56000" y="2032000"/>
            <a:ext cx="304800" cy="304800"/>
          </a:xfrm>
          <a:prstGeom prst="rect">
            <a:avLst/>
          </a:prstGeom>
        </p:spPr>
      </p:pic>
      <p:sp>
        <p:nvSpPr>
          <p:cNvPr id="9" name="AutoShape 9"/>
          <p:cNvSpPr/>
          <p:nvPr/>
        </p:nvSpPr>
        <p:spPr>
          <a:xfrm>
            <a:off x="3937000" y="1968500"/>
            <a:ext cx="17145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前向传播</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图像数据通过网络的隐藏层，进行完整的计算与特征提取</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952500" y="3048000"/>
            <a:ext cx="2349500" cy="1079500"/>
          </a:xfrm>
          <a:prstGeom prst="roundRect">
            <a:avLst>
              <a:gd name="adj" fmla="val 94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3238500"/>
            <a:ext cx="304800" cy="304800"/>
          </a:xfrm>
          <a:prstGeom prst="rect">
            <a:avLst/>
          </a:prstGeom>
        </p:spPr>
      </p:pic>
      <p:sp>
        <p:nvSpPr>
          <p:cNvPr id="12" name="AutoShape 12"/>
          <p:cNvSpPr/>
          <p:nvPr/>
        </p:nvSpPr>
        <p:spPr>
          <a:xfrm>
            <a:off x="1460500" y="3175000"/>
            <a:ext cx="17145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输出概率向量</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输出一个长度为10的数组，每个值代表属于0-9中某个数字的可能性</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3429000" y="3048000"/>
            <a:ext cx="2349500" cy="1079500"/>
          </a:xfrm>
          <a:prstGeom prst="roundRect">
            <a:avLst>
              <a:gd name="adj" fmla="val 94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556000" y="3238500"/>
            <a:ext cx="304800" cy="304800"/>
          </a:xfrm>
          <a:prstGeom prst="rect">
            <a:avLst/>
          </a:prstGeom>
        </p:spPr>
      </p:pic>
      <p:sp>
        <p:nvSpPr>
          <p:cNvPr id="15" name="AutoShape 15"/>
          <p:cNvSpPr/>
          <p:nvPr/>
        </p:nvSpPr>
        <p:spPr>
          <a:xfrm>
            <a:off x="3937000" y="3175000"/>
            <a:ext cx="17145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决策判断</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选取概率数值最大的索引位置，作为最终预测结果</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762000" y="4572000"/>
            <a:ext cx="5207000" cy="1905000"/>
          </a:xfrm>
          <a:prstGeom prst="roundRect">
            <a:avLst>
              <a:gd name="adj" fmla="val 8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952500" y="4762500"/>
            <a:ext cx="1524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输入示例</a:t>
            </a:r>
            <a:endParaRPr lang="en-US" sz="1100"/>
          </a:p>
          <a:p>
            <a:pPr indent="0" algn="ctr">
              <a:lnSpc>
                <a:spcPct val="125000"/>
              </a:lnSpc>
            </a:pPr>
            <a:r>
              <a:rPr lang="en-US" sz="40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40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手写数字图像</a:t>
            </a:r>
            <a:endPar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2540000" y="4762500"/>
            <a:ext cx="1778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网络输出向量</a:t>
            </a:r>
            <a:endParaRPr lang="en-US" sz="1100"/>
          </a:p>
          <a:p>
            <a:pPr indent="0" algn="ctr">
              <a:lnSpc>
                <a:spcPct val="100000"/>
              </a:lnSpc>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0.01, 0.01,</a:t>
            </a:r>
            <a:r>
              <a:rPr lang="en-US" sz="1100" b="1" i="0" u="none" strike="noStrike">
                <a:solidFill>
                  <a:srgbClr val="E74C3C"/>
                </a:solidFill>
                <a:latin typeface="Noto Sans SC" panose="020B0200000000000000" charset="-122"/>
                <a:ea typeface="Noto Sans SC" panose="020B0200000000000000" charset="-122"/>
                <a:cs typeface="Noto Sans SC" panose="020B0200000000000000" charset="-122"/>
                <a:sym typeface="Noto Sans SC" panose="020B0200000000000000" charset="-122"/>
              </a:rPr>
              <a:t>0.90</a:t>
            </a: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0.01, 0.01]</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第8位概率最高</a:t>
            </a:r>
            <a:endPar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4318000" y="4762500"/>
            <a:ext cx="1397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最终预测</a:t>
            </a:r>
            <a:endParaRPr lang="en-US" sz="1100"/>
          </a:p>
          <a:p>
            <a:pPr indent="0" algn="ctr">
              <a:lnSpc>
                <a:spcPct val="125000"/>
              </a:lnSpc>
            </a:pPr>
            <a:r>
              <a:rPr lang="en-US" sz="36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3600" b="1" i="0" u="none" strike="noStrike">
              <a:solidFill>
                <a:srgbClr val="2ECC7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置信度 90%</a:t>
            </a:r>
            <a:endPar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223000" y="1651000"/>
            <a:ext cx="5207000" cy="4826000"/>
          </a:xfrm>
          <a:prstGeom prst="roundRect">
            <a:avLst>
              <a:gd name="adj" fmla="val 31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1" name="AutoShape 21"/>
          <p:cNvSpPr/>
          <p:nvPr/>
        </p:nvSpPr>
        <p:spPr>
          <a:xfrm>
            <a:off x="6477000" y="2032000"/>
            <a:ext cx="4699000" cy="1397000"/>
          </a:xfrm>
          <a:prstGeom prst="roundRect">
            <a:avLst>
              <a:gd name="adj" fmla="val 7272"/>
            </a:avLst>
          </a:prstGeom>
          <a:solidFill>
            <a:srgbClr val="F0F8FF">
              <a:alpha val="70000"/>
            </a:srgbClr>
          </a:solidFill>
          <a:ln w="12700" cap="flat" cmpd="sng">
            <a:solidFill>
              <a:srgbClr val="DCE6F0">
                <a:alpha val="10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31000" y="2413000"/>
            <a:ext cx="635000" cy="635000"/>
          </a:xfrm>
          <a:prstGeom prst="rect">
            <a:avLst/>
          </a:prstGeom>
        </p:spPr>
      </p:pic>
      <p:sp>
        <p:nvSpPr>
          <p:cNvPr id="23" name="AutoShape 23"/>
          <p:cNvSpPr/>
          <p:nvPr/>
        </p:nvSpPr>
        <p:spPr>
          <a:xfrm>
            <a:off x="7620000" y="23495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Input Layer (输入层)</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28 × 28 像素的灰度图像数据被扁平化处理，转化为784维的特征向量。</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6477000" y="3683000"/>
            <a:ext cx="4699000" cy="1397000"/>
          </a:xfrm>
          <a:prstGeom prst="roundRect">
            <a:avLst>
              <a:gd name="adj" fmla="val 7272"/>
            </a:avLst>
          </a:prstGeom>
          <a:solidFill>
            <a:srgbClr val="ECFDF5">
              <a:alpha val="7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31000" y="4000500"/>
            <a:ext cx="635000" cy="635000"/>
          </a:xfrm>
          <a:prstGeom prst="rect">
            <a:avLst/>
          </a:prstGeom>
        </p:spPr>
      </p:pic>
      <p:sp>
        <p:nvSpPr>
          <p:cNvPr id="26" name="AutoShape 26"/>
          <p:cNvSpPr/>
          <p:nvPr/>
        </p:nvSpPr>
        <p:spPr>
          <a:xfrm>
            <a:off x="7620000" y="3937000"/>
            <a:ext cx="317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Hidden &amp; Output Layer (处理与输出)</a:t>
            </a:r>
            <a:endParaRPr lang="en-US" sz="1100"/>
          </a:p>
          <a:p>
            <a:pPr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通过全连接层计算后，输出层输出10个数字的概率分布，使用Softmax函数归一化。</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6477000" y="5207000"/>
            <a:ext cx="4699000" cy="1016000"/>
          </a:xfrm>
          <a:prstGeom prst="roundRect">
            <a:avLst>
              <a:gd name="adj" fmla="val 10000"/>
            </a:avLst>
          </a:prstGeom>
          <a:solidFill>
            <a:srgbClr val="FFF7ED">
              <a:alpha val="70000"/>
            </a:srgbClr>
          </a:solidFill>
          <a:ln w="12700" cap="flat" cmpd="sng">
            <a:solidFill>
              <a:srgbClr val="FED7AA">
                <a:alpha val="100000"/>
              </a:srgbClr>
            </a:solid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31000" y="5435600"/>
            <a:ext cx="508000" cy="508000"/>
          </a:xfrm>
          <a:prstGeom prst="rect">
            <a:avLst/>
          </a:prstGeom>
        </p:spPr>
      </p:pic>
      <p:sp>
        <p:nvSpPr>
          <p:cNvPr id="29" name="AutoShape 29"/>
          <p:cNvSpPr/>
          <p:nvPr/>
        </p:nvSpPr>
        <p:spPr>
          <a:xfrm>
            <a:off x="7493000" y="53975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Argmax 最大值选取策略</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直接选取概率最高的类别作为预测结果，简单高效。</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本次神经网络训练总结</a:t>
            </a:r>
            <a:endParaRPr lang="en-US" sz="1100"/>
          </a:p>
        </p:txBody>
      </p:sp>
      <p:sp>
        <p:nvSpPr>
          <p:cNvPr id="3" name="AutoShape 3"/>
          <p:cNvSpPr/>
          <p:nvPr/>
        </p:nvSpPr>
        <p:spPr>
          <a:xfrm>
            <a:off x="762000" y="1778000"/>
            <a:ext cx="3302000" cy="4318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1854200" y="2159000"/>
            <a:ext cx="1117600" cy="1117600"/>
          </a:xfrm>
          <a:prstGeom prst="ellipse">
            <a:avLst/>
          </a:prstGeom>
          <a:solidFill>
            <a:srgbClr val="2ECC7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57400" y="2362200"/>
            <a:ext cx="711200" cy="711200"/>
          </a:xfrm>
          <a:prstGeom prst="rect">
            <a:avLst/>
          </a:prstGeom>
        </p:spPr>
      </p:pic>
      <p:sp>
        <p:nvSpPr>
          <p:cNvPr id="6" name="AutoShape 6"/>
          <p:cNvSpPr/>
          <p:nvPr/>
        </p:nvSpPr>
        <p:spPr>
          <a:xfrm>
            <a:off x="889000" y="3556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 自动特征提取</a:t>
            </a:r>
            <a:endParaRPr lang="en-US" sz="1100"/>
          </a:p>
        </p:txBody>
      </p:sp>
      <p:sp>
        <p:nvSpPr>
          <p:cNvPr id="7" name="AutoShape 7"/>
          <p:cNvSpPr/>
          <p:nvPr/>
        </p:nvSpPr>
        <p:spPr>
          <a:xfrm>
            <a:off x="1016000" y="4572000"/>
            <a:ext cx="2794000" cy="13970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3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CNN的核心优势在于能够自动从原始图像中学习和提取特征，无需繁琐的手工特征设计，大幅降低开发门槛。</a:t>
            </a:r>
            <a:endParaRPr lang="en-US" sz="1100"/>
          </a:p>
        </p:txBody>
      </p:sp>
      <p:sp>
        <p:nvSpPr>
          <p:cNvPr id="8" name="AutoShape 8"/>
          <p:cNvSpPr/>
          <p:nvPr/>
        </p:nvSpPr>
        <p:spPr>
          <a:xfrm>
            <a:off x="4445000" y="1778000"/>
            <a:ext cx="3302000" cy="4318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5537200" y="2159000"/>
            <a:ext cx="1117600" cy="1117600"/>
          </a:xfrm>
          <a:prstGeom prst="ellipse">
            <a:avLst/>
          </a:prstGeom>
          <a:solidFill>
            <a:srgbClr val="2ECC7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0400" y="2362200"/>
            <a:ext cx="711200" cy="711200"/>
          </a:xfrm>
          <a:prstGeom prst="rect">
            <a:avLst/>
          </a:prstGeom>
        </p:spPr>
      </p:pic>
      <p:sp>
        <p:nvSpPr>
          <p:cNvPr id="11" name="AutoShape 11"/>
          <p:cNvSpPr/>
          <p:nvPr/>
        </p:nvSpPr>
        <p:spPr>
          <a:xfrm>
            <a:off x="4572000" y="3556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核心组件协同</a:t>
            </a:r>
            <a:endParaRPr lang="en-US" sz="1100"/>
          </a:p>
        </p:txBody>
      </p:sp>
      <p:sp>
        <p:nvSpPr>
          <p:cNvPr id="12" name="AutoShape 12"/>
          <p:cNvSpPr/>
          <p:nvPr/>
        </p:nvSpPr>
        <p:spPr>
          <a:xfrm>
            <a:off x="4699000" y="4572000"/>
            <a:ext cx="2794000" cy="13970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3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卷积、池化、激活、损失计算与反向传播是构成完整深度学习模型的核心，它们各司其职，紧密协同完成训练任务。</a:t>
            </a:r>
            <a:endParaRPr lang="en-US" sz="1100"/>
          </a:p>
        </p:txBody>
      </p:sp>
      <p:sp>
        <p:nvSpPr>
          <p:cNvPr id="13" name="AutoShape 13"/>
          <p:cNvSpPr/>
          <p:nvPr/>
        </p:nvSpPr>
        <p:spPr>
          <a:xfrm>
            <a:off x="8128000" y="1778000"/>
            <a:ext cx="3302000" cy="43180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9220200" y="2159000"/>
            <a:ext cx="1117600" cy="1117600"/>
          </a:xfrm>
          <a:prstGeom prst="ellipse">
            <a:avLst/>
          </a:prstGeom>
          <a:solidFill>
            <a:srgbClr val="2ECC7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23400" y="2362200"/>
            <a:ext cx="711200" cy="711200"/>
          </a:xfrm>
          <a:prstGeom prst="rect">
            <a:avLst/>
          </a:prstGeom>
        </p:spPr>
      </p:pic>
      <p:sp>
        <p:nvSpPr>
          <p:cNvPr id="16" name="AutoShape 16"/>
          <p:cNvSpPr/>
          <p:nvPr/>
        </p:nvSpPr>
        <p:spPr>
          <a:xfrm>
            <a:off x="8255000" y="3556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 高效实现</a:t>
            </a:r>
            <a:endParaRPr lang="en-US" sz="1100"/>
          </a:p>
        </p:txBody>
      </p:sp>
      <p:sp>
        <p:nvSpPr>
          <p:cNvPr id="17" name="AutoShape 17"/>
          <p:cNvSpPr/>
          <p:nvPr/>
        </p:nvSpPr>
        <p:spPr>
          <a:xfrm>
            <a:off x="8382000" y="4572000"/>
            <a:ext cx="2794000" cy="13970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3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在对性能要求较高的生产环境中，使用C/C++等高性能语言实现神经网络的训练与推理流程，能显著提升系统的响应速度和吞吐量。</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905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3" name="AutoShape 3"/>
          <p:cNvSpPr/>
          <p:nvPr/>
        </p:nvSpPr>
        <p:spPr>
          <a:xfrm>
            <a:off x="5588000" y="3810000"/>
            <a:ext cx="1016000" cy="76200"/>
          </a:xfrm>
          <a:prstGeom prst="roundRect">
            <a:avLst>
              <a:gd name="adj" fmla="val 0"/>
            </a:avLst>
          </a:prstGeom>
          <a:solidFill>
            <a:srgbClr val="2ECC7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4445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5" name="AutoShape 5"/>
          <p:cNvSpPr/>
          <p:nvPr/>
        </p:nvSpPr>
        <p:spPr>
          <a:xfrm>
            <a:off x="0" y="5588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300">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LISTENING</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3668</Words>
  <Application>WPS 演示</Application>
  <PresentationFormat/>
  <Paragraphs>284</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14</vt:i4>
      </vt:variant>
    </vt:vector>
  </HeadingPairs>
  <TitlesOfParts>
    <vt:vector size="23"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p:lastModifiedBy>
  <cp:revision>1</cp:revision>
  <dcterms:created xsi:type="dcterms:W3CDTF">2026-05-09T05:02:30Z</dcterms:created>
  <dcterms:modified xsi:type="dcterms:W3CDTF">2026-05-09T05:02:31Z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8024B0CFF7624A8097281A52F0E1E3E6_12</vt:lpwstr>
  </property>
</Properties>
</file>